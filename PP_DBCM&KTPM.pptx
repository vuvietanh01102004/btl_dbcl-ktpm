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embeddedFontLst>
    <p:embeddedFont>
      <p:font typeface="Poppins"/>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1F9AB5-944C-4FD9-B1DA-5F60A9F09B68}">
  <a:tblStyle styleId="{191F9AB5-944C-4FD9-B1DA-5F60A9F09B6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Lato-regular.fntdata"/><Relationship Id="rId23"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25e742a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f25e742ad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22.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19.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21.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2863453" y="4048125"/>
            <a:ext cx="6465093" cy="2247900"/>
          </a:xfrm>
          <a:prstGeom prst="rect">
            <a:avLst/>
          </a:prstGeom>
          <a:noFill/>
          <a:ln>
            <a:noFill/>
          </a:ln>
        </p:spPr>
      </p:pic>
      <p:sp>
        <p:nvSpPr>
          <p:cNvPr id="86" name="Google Shape;86;p13"/>
          <p:cNvSpPr txBox="1"/>
          <p:nvPr/>
        </p:nvSpPr>
        <p:spPr>
          <a:xfrm>
            <a:off x="295275" y="1419373"/>
            <a:ext cx="11601450"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1E293B"/>
                </a:solidFill>
                <a:latin typeface="Poppins"/>
                <a:ea typeface="Poppins"/>
                <a:cs typeface="Poppins"/>
                <a:sym typeface="Poppins"/>
              </a:rPr>
              <a:t>ĐÁNH GIÁ TESTABILITY CỦA MÃ NGUỒN VÀ KIẾN TRÚC</a:t>
            </a:r>
            <a:endParaRPr/>
          </a:p>
        </p:txBody>
      </p:sp>
      <p:sp>
        <p:nvSpPr>
          <p:cNvPr id="87" name="Google Shape;87;p13"/>
          <p:cNvSpPr txBox="1"/>
          <p:nvPr/>
        </p:nvSpPr>
        <p:spPr>
          <a:xfrm>
            <a:off x="3444924" y="3301454"/>
            <a:ext cx="5302001"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334155"/>
                </a:solidFill>
                <a:latin typeface="Lato"/>
                <a:ea typeface="Lato"/>
                <a:cs typeface="Lato"/>
                <a:sym typeface="Lato"/>
              </a:rPr>
              <a:t>Môn học: Đảm bảo chất lượng &amp; Kiểm thử phần mềm</a:t>
            </a:r>
            <a:endParaRPr/>
          </a:p>
        </p:txBody>
      </p:sp>
      <p:sp>
        <p:nvSpPr>
          <p:cNvPr id="88" name="Google Shape;88;p13"/>
          <p:cNvSpPr txBox="1"/>
          <p:nvPr/>
        </p:nvSpPr>
        <p:spPr>
          <a:xfrm>
            <a:off x="3149203" y="4524375"/>
            <a:ext cx="2756296"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Sinh viên:</a:t>
            </a:r>
            <a:r>
              <a:rPr b="0" i="0" lang="en-US" sz="1500" u="none" cap="none" strike="noStrike">
                <a:solidFill>
                  <a:srgbClr val="334155"/>
                </a:solidFill>
                <a:latin typeface="Lato"/>
                <a:ea typeface="Lato"/>
                <a:cs typeface="Lato"/>
                <a:sym typeface="Lato"/>
              </a:rPr>
              <a:t> Vũ Việt Anh</a:t>
            </a:r>
            <a:endParaRPr/>
          </a:p>
        </p:txBody>
      </p:sp>
      <p:sp>
        <p:nvSpPr>
          <p:cNvPr id="89" name="Google Shape;89;p13"/>
          <p:cNvSpPr txBox="1"/>
          <p:nvPr/>
        </p:nvSpPr>
        <p:spPr>
          <a:xfrm>
            <a:off x="3149203" y="5019675"/>
            <a:ext cx="2756296"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MSSV:</a:t>
            </a:r>
            <a:r>
              <a:rPr b="0" i="0" lang="en-US" sz="1500" u="none" cap="none" strike="noStrike">
                <a:solidFill>
                  <a:srgbClr val="334155"/>
                </a:solidFill>
                <a:latin typeface="Lato"/>
                <a:ea typeface="Lato"/>
                <a:cs typeface="Lato"/>
                <a:sym typeface="Lato"/>
              </a:rPr>
              <a:t> K225480106082</a:t>
            </a:r>
            <a:endParaRPr/>
          </a:p>
        </p:txBody>
      </p:sp>
      <p:sp>
        <p:nvSpPr>
          <p:cNvPr id="90" name="Google Shape;90;p13"/>
          <p:cNvSpPr txBox="1"/>
          <p:nvPr/>
        </p:nvSpPr>
        <p:spPr>
          <a:xfrm>
            <a:off x="3149203" y="5514975"/>
            <a:ext cx="2756296"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Lớp:</a:t>
            </a:r>
            <a:r>
              <a:rPr b="0" i="0" lang="en-US" sz="1500" u="none" cap="none" strike="noStrike">
                <a:solidFill>
                  <a:srgbClr val="334155"/>
                </a:solidFill>
                <a:latin typeface="Lato"/>
                <a:ea typeface="Lato"/>
                <a:cs typeface="Lato"/>
                <a:sym typeface="Lato"/>
              </a:rPr>
              <a:t> K58KTP.K01</a:t>
            </a:r>
            <a:endParaRPr/>
          </a:p>
        </p:txBody>
      </p:sp>
      <p:sp>
        <p:nvSpPr>
          <p:cNvPr id="91" name="Google Shape;91;p13"/>
          <p:cNvSpPr txBox="1"/>
          <p:nvPr/>
        </p:nvSpPr>
        <p:spPr>
          <a:xfrm>
            <a:off x="6286500" y="4524375"/>
            <a:ext cx="2756296"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Giảng viên:</a:t>
            </a:r>
            <a:r>
              <a:rPr b="0" i="0" lang="en-US" sz="1500" u="none" cap="none" strike="noStrike">
                <a:solidFill>
                  <a:srgbClr val="334155"/>
                </a:solidFill>
                <a:latin typeface="Lato"/>
                <a:ea typeface="Lato"/>
                <a:cs typeface="Lato"/>
                <a:sym typeface="Lato"/>
              </a:rPr>
              <a:t> TS. Nguyễn Tuấn Linh</a:t>
            </a:r>
            <a:endParaRPr/>
          </a:p>
        </p:txBody>
      </p:sp>
      <p:sp>
        <p:nvSpPr>
          <p:cNvPr id="92" name="Google Shape;92;p13"/>
          <p:cNvSpPr txBox="1"/>
          <p:nvPr/>
        </p:nvSpPr>
        <p:spPr>
          <a:xfrm>
            <a:off x="6286500" y="5019675"/>
            <a:ext cx="2756296"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Thời gian:</a:t>
            </a:r>
            <a:r>
              <a:rPr b="0" i="0" lang="en-US" sz="1500" u="none" cap="none" strike="noStrike">
                <a:solidFill>
                  <a:srgbClr val="334155"/>
                </a:solidFill>
                <a:latin typeface="Lato"/>
                <a:ea typeface="Lato"/>
                <a:cs typeface="Lato"/>
                <a:sym typeface="Lato"/>
              </a:rPr>
              <a:t> 21/06/2026</a:t>
            </a:r>
            <a:endParaRPr/>
          </a:p>
        </p:txBody>
      </p:sp>
      <p:sp>
        <p:nvSpPr>
          <p:cNvPr id="93" name="Google Shape;93;p13"/>
          <p:cNvSpPr txBox="1"/>
          <p:nvPr/>
        </p:nvSpPr>
        <p:spPr>
          <a:xfrm>
            <a:off x="6286500" y="5514975"/>
            <a:ext cx="2756296"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Địa điểm:</a:t>
            </a:r>
            <a:r>
              <a:rPr b="0" i="0" lang="en-US" sz="1500" u="none" cap="none" strike="noStrike">
                <a:solidFill>
                  <a:srgbClr val="334155"/>
                </a:solidFill>
                <a:latin typeface="Lato"/>
                <a:ea typeface="Lato"/>
                <a:cs typeface="Lato"/>
                <a:sym typeface="Lato"/>
              </a:rPr>
              <a:t> Thái Nguyên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pic>
        <p:nvPicPr>
          <p:cNvPr descr="image.png" id="98" name="Google Shape;98;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9" name="Google Shape;99;p14"/>
          <p:cNvPicPr preferRelativeResize="0"/>
          <p:nvPr/>
        </p:nvPicPr>
        <p:blipFill rotWithShape="1">
          <a:blip r:embed="rId4">
            <a:alphaModFix/>
          </a:blip>
          <a:srcRect b="0" l="0" r="0" t="0"/>
          <a:stretch/>
        </p:blipFill>
        <p:spPr>
          <a:xfrm>
            <a:off x="6286500" y="2014537"/>
            <a:ext cx="5334000" cy="3810000"/>
          </a:xfrm>
          <a:prstGeom prst="rect">
            <a:avLst/>
          </a:prstGeom>
          <a:noFill/>
          <a:ln>
            <a:noFill/>
          </a:ln>
        </p:spPr>
      </p:pic>
      <p:pic>
        <p:nvPicPr>
          <p:cNvPr descr="image.png" id="100" name="Google Shape;100;p14"/>
          <p:cNvPicPr preferRelativeResize="0"/>
          <p:nvPr/>
        </p:nvPicPr>
        <p:blipFill rotWithShape="1">
          <a:blip r:embed="rId5">
            <a:alphaModFix/>
          </a:blip>
          <a:srcRect b="0" l="0" r="0" t="0"/>
          <a:stretch/>
        </p:blipFill>
        <p:spPr>
          <a:xfrm>
            <a:off x="6286500" y="2014537"/>
            <a:ext cx="5334000" cy="3810000"/>
          </a:xfrm>
          <a:prstGeom prst="rect">
            <a:avLst/>
          </a:prstGeom>
          <a:noFill/>
          <a:ln>
            <a:noFill/>
          </a:ln>
        </p:spPr>
      </p:pic>
      <p:sp>
        <p:nvSpPr>
          <p:cNvPr id="101" name="Google Shape;101;p14"/>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LÝ DO CHỌN ĐỀ TÀI</a:t>
            </a:r>
            <a:endParaRPr/>
          </a:p>
        </p:txBody>
      </p:sp>
      <p:sp>
        <p:nvSpPr>
          <p:cNvPr id="102" name="Google Shape;102;p14"/>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4"/>
          <p:cNvSpPr txBox="1"/>
          <p:nvPr/>
        </p:nvSpPr>
        <p:spPr>
          <a:xfrm>
            <a:off x="904875" y="2486025"/>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Nghịch lý "Banana-Jungle":</a:t>
            </a:r>
            <a:r>
              <a:rPr b="0" i="0" lang="en-US" sz="1500" u="none" cap="none" strike="noStrike">
                <a:solidFill>
                  <a:srgbClr val="334155"/>
                </a:solidFill>
                <a:latin typeface="Lato"/>
                <a:ea typeface="Lato"/>
                <a:cs typeface="Lato"/>
                <a:sym typeface="Lato"/>
              </a:rPr>
              <a:t> Lập trình viên muốn test 1 tính năng nhưng phải khởi tạo cả hệ thống phức tạp.</a:t>
            </a:r>
            <a:endParaRPr/>
          </a:p>
        </p:txBody>
      </p:sp>
      <p:sp>
        <p:nvSpPr>
          <p:cNvPr id="104" name="Google Shape;104;p14"/>
          <p:cNvSpPr txBox="1"/>
          <p:nvPr/>
        </p:nvSpPr>
        <p:spPr>
          <a:xfrm>
            <a:off x="904875" y="3238500"/>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Kim tự tháp kiểm thử:</a:t>
            </a:r>
            <a:r>
              <a:rPr b="0" i="0" lang="en-US" sz="1500" u="none" cap="none" strike="noStrike">
                <a:solidFill>
                  <a:srgbClr val="334155"/>
                </a:solidFill>
                <a:latin typeface="Lato"/>
                <a:ea typeface="Lato"/>
                <a:cs typeface="Lato"/>
                <a:sym typeface="Lato"/>
              </a:rPr>
              <a:t> Unit Test là nền tảng quan trọng nhất (nhanh, rẻ, tin cậy).</a:t>
            </a:r>
            <a:endParaRPr/>
          </a:p>
        </p:txBody>
      </p:sp>
      <p:sp>
        <p:nvSpPr>
          <p:cNvPr id="105" name="Google Shape;105;p14"/>
          <p:cNvSpPr txBox="1"/>
          <p:nvPr/>
        </p:nvSpPr>
        <p:spPr>
          <a:xfrm>
            <a:off x="904875" y="3990975"/>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Rào cản kiến trúc:</a:t>
            </a:r>
            <a:r>
              <a:rPr b="0" i="0" lang="en-US" sz="1500" u="none" cap="none" strike="noStrike">
                <a:solidFill>
                  <a:srgbClr val="334155"/>
                </a:solidFill>
                <a:latin typeface="Lato"/>
                <a:ea typeface="Lato"/>
                <a:cs typeface="Lato"/>
                <a:sym typeface="Lato"/>
              </a:rPr>
              <a:t> Mã nguồn bện chặt hạ tầng (Database, API) triệt tiêu khả năng kiểm thử.</a:t>
            </a:r>
            <a:endParaRPr/>
          </a:p>
        </p:txBody>
      </p:sp>
      <p:sp>
        <p:nvSpPr>
          <p:cNvPr id="106" name="Google Shape;106;p14"/>
          <p:cNvSpPr txBox="1"/>
          <p:nvPr/>
        </p:nvSpPr>
        <p:spPr>
          <a:xfrm>
            <a:off x="904875" y="4743450"/>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Nhu cầu:</a:t>
            </a:r>
            <a:r>
              <a:rPr b="0" i="0" lang="en-US" sz="1500" u="none" cap="none" strike="noStrike">
                <a:solidFill>
                  <a:srgbClr val="334155"/>
                </a:solidFill>
                <a:latin typeface="Lato"/>
                <a:ea typeface="Lato"/>
                <a:cs typeface="Lato"/>
                <a:sym typeface="Lato"/>
              </a:rPr>
              <a:t> Cần giải pháp cô lập nghiệp vụ để tối ưu hóa quy trình SQA.</a:t>
            </a:r>
            <a:endParaRPr/>
          </a:p>
        </p:txBody>
      </p:sp>
      <p:pic>
        <p:nvPicPr>
          <p:cNvPr descr="image.png" id="107" name="Google Shape;107;p14"/>
          <p:cNvPicPr preferRelativeResize="0"/>
          <p:nvPr/>
        </p:nvPicPr>
        <p:blipFill rotWithShape="1">
          <a:blip r:embed="rId6">
            <a:alphaModFix/>
          </a:blip>
          <a:srcRect b="0" l="0" r="0" t="0"/>
          <a:stretch/>
        </p:blipFill>
        <p:spPr>
          <a:xfrm>
            <a:off x="571500" y="2486025"/>
            <a:ext cx="171450" cy="200025"/>
          </a:xfrm>
          <a:prstGeom prst="rect">
            <a:avLst/>
          </a:prstGeom>
          <a:noFill/>
          <a:ln>
            <a:noFill/>
          </a:ln>
        </p:spPr>
      </p:pic>
      <p:pic>
        <p:nvPicPr>
          <p:cNvPr descr="image.png" id="108" name="Google Shape;108;p14"/>
          <p:cNvPicPr preferRelativeResize="0"/>
          <p:nvPr/>
        </p:nvPicPr>
        <p:blipFill rotWithShape="1">
          <a:blip r:embed="rId6">
            <a:alphaModFix/>
          </a:blip>
          <a:srcRect b="0" l="0" r="0" t="0"/>
          <a:stretch/>
        </p:blipFill>
        <p:spPr>
          <a:xfrm>
            <a:off x="571500" y="3238500"/>
            <a:ext cx="171450" cy="200025"/>
          </a:xfrm>
          <a:prstGeom prst="rect">
            <a:avLst/>
          </a:prstGeom>
          <a:noFill/>
          <a:ln>
            <a:noFill/>
          </a:ln>
        </p:spPr>
      </p:pic>
      <p:pic>
        <p:nvPicPr>
          <p:cNvPr descr="image.png" id="109" name="Google Shape;109;p14"/>
          <p:cNvPicPr preferRelativeResize="0"/>
          <p:nvPr/>
        </p:nvPicPr>
        <p:blipFill rotWithShape="1">
          <a:blip r:embed="rId6">
            <a:alphaModFix/>
          </a:blip>
          <a:srcRect b="0" l="0" r="0" t="0"/>
          <a:stretch/>
        </p:blipFill>
        <p:spPr>
          <a:xfrm>
            <a:off x="571500" y="3990975"/>
            <a:ext cx="171450" cy="200025"/>
          </a:xfrm>
          <a:prstGeom prst="rect">
            <a:avLst/>
          </a:prstGeom>
          <a:noFill/>
          <a:ln>
            <a:noFill/>
          </a:ln>
        </p:spPr>
      </p:pic>
      <p:pic>
        <p:nvPicPr>
          <p:cNvPr descr="image.png" id="110" name="Google Shape;110;p14"/>
          <p:cNvPicPr preferRelativeResize="0"/>
          <p:nvPr/>
        </p:nvPicPr>
        <p:blipFill rotWithShape="1">
          <a:blip r:embed="rId6">
            <a:alphaModFix/>
          </a:blip>
          <a:srcRect b="0" l="0" r="0" t="0"/>
          <a:stretch/>
        </p:blipFill>
        <p:spPr>
          <a:xfrm>
            <a:off x="571500" y="4743450"/>
            <a:ext cx="171450"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pic>
        <p:nvPicPr>
          <p:cNvPr descr="image.png" id="115" name="Google Shape;11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6" name="Google Shape;116;p15"/>
          <p:cNvPicPr preferRelativeResize="0"/>
          <p:nvPr/>
        </p:nvPicPr>
        <p:blipFill rotWithShape="1">
          <a:blip r:embed="rId4">
            <a:alphaModFix/>
          </a:blip>
          <a:srcRect b="0" l="0" r="0" t="0"/>
          <a:stretch/>
        </p:blipFill>
        <p:spPr>
          <a:xfrm>
            <a:off x="571500" y="2514600"/>
            <a:ext cx="3555950" cy="2809875"/>
          </a:xfrm>
          <a:prstGeom prst="rect">
            <a:avLst/>
          </a:prstGeom>
          <a:noFill/>
          <a:ln>
            <a:noFill/>
          </a:ln>
        </p:spPr>
      </p:pic>
      <p:pic>
        <p:nvPicPr>
          <p:cNvPr descr="image.png" id="117" name="Google Shape;117;p15"/>
          <p:cNvPicPr preferRelativeResize="0"/>
          <p:nvPr/>
        </p:nvPicPr>
        <p:blipFill rotWithShape="1">
          <a:blip r:embed="rId5">
            <a:alphaModFix/>
          </a:blip>
          <a:srcRect b="0" l="0" r="0" t="0"/>
          <a:stretch/>
        </p:blipFill>
        <p:spPr>
          <a:xfrm>
            <a:off x="4317950" y="2514600"/>
            <a:ext cx="3555950" cy="2809875"/>
          </a:xfrm>
          <a:prstGeom prst="rect">
            <a:avLst/>
          </a:prstGeom>
          <a:noFill/>
          <a:ln>
            <a:noFill/>
          </a:ln>
        </p:spPr>
      </p:pic>
      <p:pic>
        <p:nvPicPr>
          <p:cNvPr descr="image.png" id="118" name="Google Shape;118;p15"/>
          <p:cNvPicPr preferRelativeResize="0"/>
          <p:nvPr/>
        </p:nvPicPr>
        <p:blipFill rotWithShape="1">
          <a:blip r:embed="rId6">
            <a:alphaModFix/>
          </a:blip>
          <a:srcRect b="0" l="0" r="0" t="0"/>
          <a:stretch/>
        </p:blipFill>
        <p:spPr>
          <a:xfrm>
            <a:off x="8064400" y="2514600"/>
            <a:ext cx="3555950" cy="2809875"/>
          </a:xfrm>
          <a:prstGeom prst="rect">
            <a:avLst/>
          </a:prstGeom>
          <a:noFill/>
          <a:ln>
            <a:noFill/>
          </a:ln>
        </p:spPr>
      </p:pic>
      <p:pic>
        <p:nvPicPr>
          <p:cNvPr descr="image.png" id="119" name="Google Shape;119;p15"/>
          <p:cNvPicPr preferRelativeResize="0"/>
          <p:nvPr/>
        </p:nvPicPr>
        <p:blipFill rotWithShape="1">
          <a:blip r:embed="rId7">
            <a:alphaModFix/>
          </a:blip>
          <a:srcRect b="0" l="0" r="0" t="0"/>
          <a:stretch/>
        </p:blipFill>
        <p:spPr>
          <a:xfrm>
            <a:off x="857250" y="2838450"/>
            <a:ext cx="381000" cy="381000"/>
          </a:xfrm>
          <a:prstGeom prst="rect">
            <a:avLst/>
          </a:prstGeom>
          <a:noFill/>
          <a:ln>
            <a:noFill/>
          </a:ln>
        </p:spPr>
      </p:pic>
      <p:sp>
        <p:nvSpPr>
          <p:cNvPr id="120" name="Google Shape;120;p15"/>
          <p:cNvSpPr txBox="1"/>
          <p:nvPr/>
        </p:nvSpPr>
        <p:spPr>
          <a:xfrm>
            <a:off x="857250" y="3409950"/>
            <a:ext cx="313367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Mục Tiêu</a:t>
            </a:r>
            <a:endParaRPr/>
          </a:p>
        </p:txBody>
      </p:sp>
      <p:pic>
        <p:nvPicPr>
          <p:cNvPr descr="image.png" id="121" name="Google Shape;121;p15"/>
          <p:cNvPicPr preferRelativeResize="0"/>
          <p:nvPr/>
        </p:nvPicPr>
        <p:blipFill rotWithShape="1">
          <a:blip r:embed="rId8">
            <a:alphaModFix/>
          </a:blip>
          <a:srcRect b="0" l="0" r="0" t="0"/>
          <a:stretch/>
        </p:blipFill>
        <p:spPr>
          <a:xfrm>
            <a:off x="4603700" y="2838450"/>
            <a:ext cx="333375" cy="381000"/>
          </a:xfrm>
          <a:prstGeom prst="rect">
            <a:avLst/>
          </a:prstGeom>
          <a:noFill/>
          <a:ln>
            <a:noFill/>
          </a:ln>
        </p:spPr>
      </p:pic>
      <p:sp>
        <p:nvSpPr>
          <p:cNvPr id="122" name="Google Shape;122;p15"/>
          <p:cNvSpPr txBox="1"/>
          <p:nvPr/>
        </p:nvSpPr>
        <p:spPr>
          <a:xfrm>
            <a:off x="4603700" y="3409950"/>
            <a:ext cx="313367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Thực Nghiệm</a:t>
            </a:r>
            <a:endParaRPr/>
          </a:p>
        </p:txBody>
      </p:sp>
      <p:pic>
        <p:nvPicPr>
          <p:cNvPr descr="image.png" id="123" name="Google Shape;123;p15"/>
          <p:cNvPicPr preferRelativeResize="0"/>
          <p:nvPr/>
        </p:nvPicPr>
        <p:blipFill rotWithShape="1">
          <a:blip r:embed="rId9">
            <a:alphaModFix/>
          </a:blip>
          <a:srcRect b="0" l="0" r="0" t="0"/>
          <a:stretch/>
        </p:blipFill>
        <p:spPr>
          <a:xfrm>
            <a:off x="8350150" y="2838450"/>
            <a:ext cx="381000" cy="381000"/>
          </a:xfrm>
          <a:prstGeom prst="rect">
            <a:avLst/>
          </a:prstGeom>
          <a:noFill/>
          <a:ln>
            <a:noFill/>
          </a:ln>
        </p:spPr>
      </p:pic>
      <p:sp>
        <p:nvSpPr>
          <p:cNvPr id="124" name="Google Shape;124;p15"/>
          <p:cNvSpPr txBox="1"/>
          <p:nvPr/>
        </p:nvSpPr>
        <p:spPr>
          <a:xfrm>
            <a:off x="8350150" y="3409950"/>
            <a:ext cx="313367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Phạm Vi</a:t>
            </a:r>
            <a:endParaRPr/>
          </a:p>
        </p:txBody>
      </p:sp>
      <p:sp>
        <p:nvSpPr>
          <p:cNvPr id="125" name="Google Shape;125;p15"/>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MỤC TIÊU &amp; PHẠM VI NGHIÊN CỨU</a:t>
            </a:r>
            <a:endParaRPr/>
          </a:p>
        </p:txBody>
      </p:sp>
      <p:sp>
        <p:nvSpPr>
          <p:cNvPr id="126" name="Google Shape;126;p15"/>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5"/>
          <p:cNvSpPr txBox="1"/>
          <p:nvPr/>
        </p:nvSpPr>
        <p:spPr>
          <a:xfrm>
            <a:off x="857250" y="3933825"/>
            <a:ext cx="29844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Phân tích 4 đặc tính Testability &amp; đo lường chỉ số OO Metrics (C&amp;K) để đánh giá định lượng mã nguồn.</a:t>
            </a:r>
            <a:endParaRPr/>
          </a:p>
        </p:txBody>
      </p:sp>
      <p:sp>
        <p:nvSpPr>
          <p:cNvPr id="128" name="Google Shape;128;p15"/>
          <p:cNvSpPr txBox="1"/>
          <p:nvPr/>
        </p:nvSpPr>
        <p:spPr>
          <a:xfrm>
            <a:off x="4603700" y="3933825"/>
            <a:ext cx="29844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Đối chứng kiến trúc Legacy (phụ thuộc cứng) và Hexagonal (cô lập) trên ngôn ngữ Python.</a:t>
            </a:r>
            <a:endParaRPr/>
          </a:p>
        </p:txBody>
      </p:sp>
      <p:sp>
        <p:nvSpPr>
          <p:cNvPr id="129" name="Google Shape;129;p15"/>
          <p:cNvSpPr txBox="1"/>
          <p:nvPr/>
        </p:nvSpPr>
        <p:spPr>
          <a:xfrm>
            <a:off x="8350150" y="3933825"/>
            <a:ext cx="29844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Tập trung vào cấp độ Unit Testing trong môi trường cô lập Sandbox, sử dụng kỹ thuật Mocking.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pic>
        <p:nvPicPr>
          <p:cNvPr descr="image.png" id="134" name="Google Shape;134;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5" name="Google Shape;135;p16"/>
          <p:cNvSpPr/>
          <p:nvPr/>
        </p:nvSpPr>
        <p:spPr>
          <a:xfrm>
            <a:off x="571500" y="2247900"/>
            <a:ext cx="11049000" cy="166687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6"/>
          <p:cNvSpPr txBox="1"/>
          <p:nvPr/>
        </p:nvSpPr>
        <p:spPr>
          <a:xfrm>
            <a:off x="952500" y="2438400"/>
            <a:ext cx="10287000" cy="1285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700" u="none" cap="none" strike="noStrike">
                <a:solidFill>
                  <a:srgbClr val="000000"/>
                </a:solidFill>
                <a:latin typeface="Lato"/>
                <a:ea typeface="Lato"/>
                <a:cs typeface="Lato"/>
                <a:sym typeface="Lato"/>
              </a:rPr>
              <a:t> "Testability là mức độ một hệ thống phần mềm tạo điều kiện thuận lợi cho việc thiết lập tiêu chí, thực thi kiểm thử và đánh giá kết quả một cách dễ dàng, hiệu quả." </a:t>
            </a:r>
            <a:endParaRPr/>
          </a:p>
        </p:txBody>
      </p:sp>
      <p:sp>
        <p:nvSpPr>
          <p:cNvPr id="137" name="Google Shape;137;p16"/>
          <p:cNvSpPr/>
          <p:nvPr/>
        </p:nvSpPr>
        <p:spPr>
          <a:xfrm>
            <a:off x="571500" y="2247900"/>
            <a:ext cx="95250" cy="16668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6"/>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KHÁI NIỆM KHẢ NĂNG KIỂM THỬ</a:t>
            </a:r>
            <a:endParaRPr/>
          </a:p>
        </p:txBody>
      </p:sp>
      <p:sp>
        <p:nvSpPr>
          <p:cNvPr id="139" name="Google Shape;139;p16"/>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6"/>
          <p:cNvSpPr txBox="1"/>
          <p:nvPr/>
        </p:nvSpPr>
        <p:spPr>
          <a:xfrm>
            <a:off x="571500" y="4105275"/>
            <a:ext cx="11049000" cy="3048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 Theo tiêu chuẩn </a:t>
            </a:r>
            <a:r>
              <a:rPr b="1" i="0" lang="en-US" sz="1500" u="none" cap="none" strike="noStrike">
                <a:solidFill>
                  <a:srgbClr val="334155"/>
                </a:solidFill>
                <a:latin typeface="Lato"/>
                <a:ea typeface="Lato"/>
                <a:cs typeface="Lato"/>
                <a:sym typeface="Lato"/>
              </a:rPr>
              <a:t>ISO/IEC 25010</a:t>
            </a:r>
            <a:endParaRPr/>
          </a:p>
        </p:txBody>
      </p:sp>
      <p:sp>
        <p:nvSpPr>
          <p:cNvPr id="141" name="Google Shape;141;p16"/>
          <p:cNvSpPr txBox="1"/>
          <p:nvPr/>
        </p:nvSpPr>
        <p:spPr>
          <a:xfrm>
            <a:off x="571500" y="4791075"/>
            <a:ext cx="11049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Mã nguồn có Testability cao giúp giảm thiểu </a:t>
            </a:r>
            <a:r>
              <a:rPr b="1" i="0" lang="en-US" sz="1500" u="none" cap="none" strike="noStrike">
                <a:solidFill>
                  <a:srgbClr val="334155"/>
                </a:solidFill>
                <a:latin typeface="Lato"/>
                <a:ea typeface="Lato"/>
                <a:cs typeface="Lato"/>
                <a:sym typeface="Lato"/>
              </a:rPr>
              <a:t>Test Effort</a:t>
            </a:r>
            <a:r>
              <a:rPr b="0" i="0" lang="en-US" sz="1500" u="none" cap="none" strike="noStrike">
                <a:solidFill>
                  <a:srgbClr val="334155"/>
                </a:solidFill>
                <a:latin typeface="Lato"/>
                <a:ea typeface="Lato"/>
                <a:cs typeface="Lato"/>
                <a:sym typeface="Lato"/>
              </a:rPr>
              <a:t>, phát hiện lỗi sớm (Shift-Left) và kiểm soát nợ kỹ thuật (Technical Debt) bền vững.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pic>
        <p:nvPicPr>
          <p:cNvPr descr="image.png" id="146" name="Google Shape;14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7" name="Google Shape;147;p17"/>
          <p:cNvPicPr preferRelativeResize="0"/>
          <p:nvPr/>
        </p:nvPicPr>
        <p:blipFill rotWithShape="1">
          <a:blip r:embed="rId4">
            <a:alphaModFix/>
          </a:blip>
          <a:srcRect b="0" l="0" r="0" t="0"/>
          <a:stretch/>
        </p:blipFill>
        <p:spPr>
          <a:xfrm>
            <a:off x="571500" y="2362200"/>
            <a:ext cx="2619375" cy="3114675"/>
          </a:xfrm>
          <a:prstGeom prst="rect">
            <a:avLst/>
          </a:prstGeom>
          <a:noFill/>
          <a:ln>
            <a:noFill/>
          </a:ln>
        </p:spPr>
      </p:pic>
      <p:pic>
        <p:nvPicPr>
          <p:cNvPr descr="image.png" id="148" name="Google Shape;148;p17"/>
          <p:cNvPicPr preferRelativeResize="0"/>
          <p:nvPr/>
        </p:nvPicPr>
        <p:blipFill rotWithShape="1">
          <a:blip r:embed="rId4">
            <a:alphaModFix/>
          </a:blip>
          <a:srcRect b="0" l="0" r="0" t="0"/>
          <a:stretch/>
        </p:blipFill>
        <p:spPr>
          <a:xfrm>
            <a:off x="3381375" y="2362200"/>
            <a:ext cx="2619375" cy="3114675"/>
          </a:xfrm>
          <a:prstGeom prst="rect">
            <a:avLst/>
          </a:prstGeom>
          <a:noFill/>
          <a:ln>
            <a:noFill/>
          </a:ln>
        </p:spPr>
      </p:pic>
      <p:pic>
        <p:nvPicPr>
          <p:cNvPr descr="image.png" id="149" name="Google Shape;149;p17"/>
          <p:cNvPicPr preferRelativeResize="0"/>
          <p:nvPr/>
        </p:nvPicPr>
        <p:blipFill rotWithShape="1">
          <a:blip r:embed="rId4">
            <a:alphaModFix/>
          </a:blip>
          <a:srcRect b="0" l="0" r="0" t="0"/>
          <a:stretch/>
        </p:blipFill>
        <p:spPr>
          <a:xfrm>
            <a:off x="6191250" y="2362200"/>
            <a:ext cx="2619375" cy="3114675"/>
          </a:xfrm>
          <a:prstGeom prst="rect">
            <a:avLst/>
          </a:prstGeom>
          <a:noFill/>
          <a:ln>
            <a:noFill/>
          </a:ln>
        </p:spPr>
      </p:pic>
      <p:pic>
        <p:nvPicPr>
          <p:cNvPr descr="image.png" id="150" name="Google Shape;150;p17"/>
          <p:cNvPicPr preferRelativeResize="0"/>
          <p:nvPr/>
        </p:nvPicPr>
        <p:blipFill rotWithShape="1">
          <a:blip r:embed="rId4">
            <a:alphaModFix/>
          </a:blip>
          <a:srcRect b="0" l="0" r="0" t="0"/>
          <a:stretch/>
        </p:blipFill>
        <p:spPr>
          <a:xfrm>
            <a:off x="9001125" y="2362200"/>
            <a:ext cx="2619375" cy="3114675"/>
          </a:xfrm>
          <a:prstGeom prst="rect">
            <a:avLst/>
          </a:prstGeom>
          <a:noFill/>
          <a:ln>
            <a:noFill/>
          </a:ln>
        </p:spPr>
      </p:pic>
      <p:pic>
        <p:nvPicPr>
          <p:cNvPr descr="image.png" id="151" name="Google Shape;151;p17"/>
          <p:cNvPicPr preferRelativeResize="0"/>
          <p:nvPr/>
        </p:nvPicPr>
        <p:blipFill rotWithShape="1">
          <a:blip r:embed="rId5">
            <a:alphaModFix/>
          </a:blip>
          <a:srcRect b="0" l="0" r="0" t="0"/>
          <a:stretch/>
        </p:blipFill>
        <p:spPr>
          <a:xfrm>
            <a:off x="857250" y="2686050"/>
            <a:ext cx="381000" cy="381000"/>
          </a:xfrm>
          <a:prstGeom prst="rect">
            <a:avLst/>
          </a:prstGeom>
          <a:noFill/>
          <a:ln>
            <a:noFill/>
          </a:ln>
        </p:spPr>
      </p:pic>
      <p:sp>
        <p:nvSpPr>
          <p:cNvPr id="152" name="Google Shape;152;p17"/>
          <p:cNvSpPr txBox="1"/>
          <p:nvPr/>
        </p:nvSpPr>
        <p:spPr>
          <a:xfrm>
            <a:off x="857250" y="3257550"/>
            <a:ext cx="2150268"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Controllability</a:t>
            </a:r>
            <a:endParaRPr/>
          </a:p>
        </p:txBody>
      </p:sp>
      <p:pic>
        <p:nvPicPr>
          <p:cNvPr descr="image.png" id="153" name="Google Shape;153;p17"/>
          <p:cNvPicPr preferRelativeResize="0"/>
          <p:nvPr/>
        </p:nvPicPr>
        <p:blipFill rotWithShape="1">
          <a:blip r:embed="rId6">
            <a:alphaModFix/>
          </a:blip>
          <a:srcRect b="0" l="0" r="0" t="0"/>
          <a:stretch/>
        </p:blipFill>
        <p:spPr>
          <a:xfrm>
            <a:off x="3667125" y="2686050"/>
            <a:ext cx="428625" cy="381000"/>
          </a:xfrm>
          <a:prstGeom prst="rect">
            <a:avLst/>
          </a:prstGeom>
          <a:noFill/>
          <a:ln>
            <a:noFill/>
          </a:ln>
        </p:spPr>
      </p:pic>
      <p:sp>
        <p:nvSpPr>
          <p:cNvPr id="154" name="Google Shape;154;p17"/>
          <p:cNvSpPr txBox="1"/>
          <p:nvPr/>
        </p:nvSpPr>
        <p:spPr>
          <a:xfrm>
            <a:off x="3667125" y="3257550"/>
            <a:ext cx="2150268"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Observability</a:t>
            </a:r>
            <a:endParaRPr/>
          </a:p>
        </p:txBody>
      </p:sp>
      <p:pic>
        <p:nvPicPr>
          <p:cNvPr descr="image.png" id="155" name="Google Shape;155;p17"/>
          <p:cNvPicPr preferRelativeResize="0"/>
          <p:nvPr/>
        </p:nvPicPr>
        <p:blipFill rotWithShape="1">
          <a:blip r:embed="rId7">
            <a:alphaModFix/>
          </a:blip>
          <a:srcRect b="0" l="0" r="0" t="0"/>
          <a:stretch/>
        </p:blipFill>
        <p:spPr>
          <a:xfrm>
            <a:off x="6477000" y="2686050"/>
            <a:ext cx="476250" cy="381000"/>
          </a:xfrm>
          <a:prstGeom prst="rect">
            <a:avLst/>
          </a:prstGeom>
          <a:noFill/>
          <a:ln>
            <a:noFill/>
          </a:ln>
        </p:spPr>
      </p:pic>
      <p:sp>
        <p:nvSpPr>
          <p:cNvPr id="156" name="Google Shape;156;p17"/>
          <p:cNvSpPr txBox="1"/>
          <p:nvPr/>
        </p:nvSpPr>
        <p:spPr>
          <a:xfrm>
            <a:off x="6477000" y="3257550"/>
            <a:ext cx="2150268"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Coupling</a:t>
            </a:r>
            <a:endParaRPr/>
          </a:p>
        </p:txBody>
      </p:sp>
      <p:pic>
        <p:nvPicPr>
          <p:cNvPr descr="image.png" id="157" name="Google Shape;157;p17"/>
          <p:cNvPicPr preferRelativeResize="0"/>
          <p:nvPr/>
        </p:nvPicPr>
        <p:blipFill rotWithShape="1">
          <a:blip r:embed="rId8">
            <a:alphaModFix/>
          </a:blip>
          <a:srcRect b="0" l="0" r="0" t="0"/>
          <a:stretch/>
        </p:blipFill>
        <p:spPr>
          <a:xfrm>
            <a:off x="9286875" y="2686050"/>
            <a:ext cx="333375" cy="381000"/>
          </a:xfrm>
          <a:prstGeom prst="rect">
            <a:avLst/>
          </a:prstGeom>
          <a:noFill/>
          <a:ln>
            <a:noFill/>
          </a:ln>
        </p:spPr>
      </p:pic>
      <p:sp>
        <p:nvSpPr>
          <p:cNvPr id="158" name="Google Shape;158;p17"/>
          <p:cNvSpPr txBox="1"/>
          <p:nvPr/>
        </p:nvSpPr>
        <p:spPr>
          <a:xfrm>
            <a:off x="9286875" y="3257550"/>
            <a:ext cx="2150268"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Cohesion</a:t>
            </a:r>
            <a:endParaRPr/>
          </a:p>
        </p:txBody>
      </p:sp>
      <p:sp>
        <p:nvSpPr>
          <p:cNvPr id="159" name="Google Shape;159;p17"/>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4 ĐẶC TÍNH ẢNH HƯỞNG TESTABILITY</a:t>
            </a:r>
            <a:endParaRPr/>
          </a:p>
        </p:txBody>
      </p:sp>
      <p:sp>
        <p:nvSpPr>
          <p:cNvPr id="160" name="Google Shape;160;p17"/>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7"/>
          <p:cNvSpPr txBox="1"/>
          <p:nvPr/>
        </p:nvSpPr>
        <p:spPr>
          <a:xfrm>
            <a:off x="857250" y="3781425"/>
            <a:ext cx="2047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Khả năng kiểm soát trạng thái &amp; dữ liệu đầu vào (Ví dụ: ép thời gian, giả lập lỗi).</a:t>
            </a:r>
            <a:endParaRPr/>
          </a:p>
        </p:txBody>
      </p:sp>
      <p:sp>
        <p:nvSpPr>
          <p:cNvPr id="162" name="Google Shape;162;p17"/>
          <p:cNvSpPr txBox="1"/>
          <p:nvPr/>
        </p:nvSpPr>
        <p:spPr>
          <a:xfrm>
            <a:off x="3667125" y="3781425"/>
            <a:ext cx="2047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Khả năng quan sát kết quả đầu ra &amp; hành vi tương tác bên trong thông qua log/exception.</a:t>
            </a:r>
            <a:endParaRPr/>
          </a:p>
        </p:txBody>
      </p:sp>
      <p:sp>
        <p:nvSpPr>
          <p:cNvPr id="163" name="Google Shape;163;p17"/>
          <p:cNvSpPr txBox="1"/>
          <p:nvPr/>
        </p:nvSpPr>
        <p:spPr>
          <a:xfrm>
            <a:off x="6477000" y="3781425"/>
            <a:ext cx="2047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Độ khớp nối: Cần khớp nối lỏng (Loose Coupling) để dễ dàng cô lập thành phần.</a:t>
            </a:r>
            <a:endParaRPr/>
          </a:p>
        </p:txBody>
      </p:sp>
      <p:sp>
        <p:nvSpPr>
          <p:cNvPr id="164" name="Google Shape;164;p17"/>
          <p:cNvSpPr txBox="1"/>
          <p:nvPr/>
        </p:nvSpPr>
        <p:spPr>
          <a:xfrm>
            <a:off x="9286875" y="3781425"/>
            <a:ext cx="2047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Độ gắn kết: Tuân thủ Single Responsibility giúp thu hẹp phạm vi kịch bản test.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pic>
        <p:nvPicPr>
          <p:cNvPr descr="image.png" id="169" name="Google Shape;169;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0" name="Google Shape;170;p18"/>
          <p:cNvPicPr preferRelativeResize="0"/>
          <p:nvPr/>
        </p:nvPicPr>
        <p:blipFill rotWithShape="1">
          <a:blip r:embed="rId4">
            <a:alphaModFix/>
          </a:blip>
          <a:srcRect b="0" l="0" r="0" t="0"/>
          <a:stretch/>
        </p:blipFill>
        <p:spPr>
          <a:xfrm>
            <a:off x="6286500" y="2014537"/>
            <a:ext cx="5334000" cy="3810000"/>
          </a:xfrm>
          <a:prstGeom prst="rect">
            <a:avLst/>
          </a:prstGeom>
          <a:noFill/>
          <a:ln>
            <a:noFill/>
          </a:ln>
        </p:spPr>
      </p:pic>
      <p:pic>
        <p:nvPicPr>
          <p:cNvPr descr="image.png" id="171" name="Google Shape;171;p18"/>
          <p:cNvPicPr preferRelativeResize="0"/>
          <p:nvPr/>
        </p:nvPicPr>
        <p:blipFill rotWithShape="1">
          <a:blip r:embed="rId5">
            <a:alphaModFix/>
          </a:blip>
          <a:srcRect b="0" l="0" r="0" t="0"/>
          <a:stretch/>
        </p:blipFill>
        <p:spPr>
          <a:xfrm>
            <a:off x="6286500" y="2014537"/>
            <a:ext cx="5334000" cy="3810000"/>
          </a:xfrm>
          <a:prstGeom prst="rect">
            <a:avLst/>
          </a:prstGeom>
          <a:noFill/>
          <a:ln>
            <a:noFill/>
          </a:ln>
        </p:spPr>
      </p:pic>
      <p:sp>
        <p:nvSpPr>
          <p:cNvPr id="172" name="Google Shape;172;p18"/>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KIẾN TRÚC LỤC GIÁC &amp; SEAMS</a:t>
            </a:r>
            <a:endParaRPr/>
          </a:p>
        </p:txBody>
      </p:sp>
      <p:sp>
        <p:nvSpPr>
          <p:cNvPr id="173" name="Google Shape;173;p18"/>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txBox="1"/>
          <p:nvPr/>
        </p:nvSpPr>
        <p:spPr>
          <a:xfrm>
            <a:off x="904875" y="2486025"/>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Ports &amp; Adapters:</a:t>
            </a:r>
            <a:r>
              <a:rPr b="0" i="0" lang="en-US" sz="1500" u="none" cap="none" strike="noStrike">
                <a:solidFill>
                  <a:srgbClr val="334155"/>
                </a:solidFill>
                <a:latin typeface="Lato"/>
                <a:ea typeface="Lato"/>
                <a:cs typeface="Lato"/>
                <a:sym typeface="Lato"/>
              </a:rPr>
              <a:t> Thiết lập ranh giới trừu tượng qua Interface (abc.ABC).</a:t>
            </a:r>
            <a:endParaRPr/>
          </a:p>
        </p:txBody>
      </p:sp>
      <p:sp>
        <p:nvSpPr>
          <p:cNvPr id="175" name="Google Shape;175;p18"/>
          <p:cNvSpPr txBox="1"/>
          <p:nvPr/>
        </p:nvSpPr>
        <p:spPr>
          <a:xfrm>
            <a:off x="904875" y="3238500"/>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Dependency Injection:</a:t>
            </a:r>
            <a:r>
              <a:rPr b="0" i="0" lang="en-US" sz="1500" u="none" cap="none" strike="noStrike">
                <a:solidFill>
                  <a:srgbClr val="334155"/>
                </a:solidFill>
                <a:latin typeface="Lato"/>
                <a:ea typeface="Lato"/>
                <a:cs typeface="Lato"/>
                <a:sym typeface="Lato"/>
              </a:rPr>
              <a:t> Tiêm phụ thuộc từ ngoài vào để bẻ gãy liên kết vật lý.</a:t>
            </a:r>
            <a:endParaRPr/>
          </a:p>
        </p:txBody>
      </p:sp>
      <p:sp>
        <p:nvSpPr>
          <p:cNvPr id="176" name="Google Shape;176;p18"/>
          <p:cNvSpPr txBox="1"/>
          <p:nvPr/>
        </p:nvSpPr>
        <p:spPr>
          <a:xfrm>
            <a:off x="904875" y="3990975"/>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Seams (Mối nối):</a:t>
            </a:r>
            <a:r>
              <a:rPr b="0" i="0" lang="en-US" sz="1500" u="none" cap="none" strike="noStrike">
                <a:solidFill>
                  <a:srgbClr val="334155"/>
                </a:solidFill>
                <a:latin typeface="Lato"/>
                <a:ea typeface="Lato"/>
                <a:cs typeface="Lato"/>
                <a:sym typeface="Lato"/>
              </a:rPr>
              <a:t> Vị trí thay đổi hành vi hệ thống mà không cần sửa mã nghiệp vụ.</a:t>
            </a:r>
            <a:endParaRPr/>
          </a:p>
        </p:txBody>
      </p:sp>
      <p:sp>
        <p:nvSpPr>
          <p:cNvPr id="177" name="Google Shape;177;p18"/>
          <p:cNvSpPr txBox="1"/>
          <p:nvPr/>
        </p:nvSpPr>
        <p:spPr>
          <a:xfrm>
            <a:off x="904875" y="4743450"/>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Giải phóng Testability:</a:t>
            </a:r>
            <a:r>
              <a:rPr b="0" i="0" lang="en-US" sz="1500" u="none" cap="none" strike="noStrike">
                <a:solidFill>
                  <a:srgbClr val="334155"/>
                </a:solidFill>
                <a:latin typeface="Lato"/>
                <a:ea typeface="Lato"/>
                <a:cs typeface="Lato"/>
                <a:sym typeface="Lato"/>
              </a:rPr>
              <a:t> Lõi nghiệp vụ (Core) hoàn toàn "sạch" và độc lập.</a:t>
            </a:r>
            <a:endParaRPr/>
          </a:p>
        </p:txBody>
      </p:sp>
      <p:pic>
        <p:nvPicPr>
          <p:cNvPr descr="image.png" id="178" name="Google Shape;178;p18"/>
          <p:cNvPicPr preferRelativeResize="0"/>
          <p:nvPr/>
        </p:nvPicPr>
        <p:blipFill rotWithShape="1">
          <a:blip r:embed="rId6">
            <a:alphaModFix/>
          </a:blip>
          <a:srcRect b="0" l="0" r="0" t="0"/>
          <a:stretch/>
        </p:blipFill>
        <p:spPr>
          <a:xfrm>
            <a:off x="571500" y="2486025"/>
            <a:ext cx="171450" cy="200025"/>
          </a:xfrm>
          <a:prstGeom prst="rect">
            <a:avLst/>
          </a:prstGeom>
          <a:noFill/>
          <a:ln>
            <a:noFill/>
          </a:ln>
        </p:spPr>
      </p:pic>
      <p:pic>
        <p:nvPicPr>
          <p:cNvPr descr="image.png" id="179" name="Google Shape;179;p18"/>
          <p:cNvPicPr preferRelativeResize="0"/>
          <p:nvPr/>
        </p:nvPicPr>
        <p:blipFill rotWithShape="1">
          <a:blip r:embed="rId6">
            <a:alphaModFix/>
          </a:blip>
          <a:srcRect b="0" l="0" r="0" t="0"/>
          <a:stretch/>
        </p:blipFill>
        <p:spPr>
          <a:xfrm>
            <a:off x="571500" y="3238500"/>
            <a:ext cx="171450" cy="200025"/>
          </a:xfrm>
          <a:prstGeom prst="rect">
            <a:avLst/>
          </a:prstGeom>
          <a:noFill/>
          <a:ln>
            <a:noFill/>
          </a:ln>
        </p:spPr>
      </p:pic>
      <p:pic>
        <p:nvPicPr>
          <p:cNvPr descr="image.png" id="180" name="Google Shape;180;p18"/>
          <p:cNvPicPr preferRelativeResize="0"/>
          <p:nvPr/>
        </p:nvPicPr>
        <p:blipFill rotWithShape="1">
          <a:blip r:embed="rId6">
            <a:alphaModFix/>
          </a:blip>
          <a:srcRect b="0" l="0" r="0" t="0"/>
          <a:stretch/>
        </p:blipFill>
        <p:spPr>
          <a:xfrm>
            <a:off x="571500" y="3990975"/>
            <a:ext cx="171450" cy="200025"/>
          </a:xfrm>
          <a:prstGeom prst="rect">
            <a:avLst/>
          </a:prstGeom>
          <a:noFill/>
          <a:ln>
            <a:noFill/>
          </a:ln>
        </p:spPr>
      </p:pic>
      <p:pic>
        <p:nvPicPr>
          <p:cNvPr descr="image.png" id="181" name="Google Shape;181;p18"/>
          <p:cNvPicPr preferRelativeResize="0"/>
          <p:nvPr/>
        </p:nvPicPr>
        <p:blipFill rotWithShape="1">
          <a:blip r:embed="rId6">
            <a:alphaModFix/>
          </a:blip>
          <a:srcRect b="0" l="0" r="0" t="0"/>
          <a:stretch/>
        </p:blipFill>
        <p:spPr>
          <a:xfrm>
            <a:off x="571500" y="4743450"/>
            <a:ext cx="171450" cy="20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pic>
        <p:nvPicPr>
          <p:cNvPr descr="image.png" id="186" name="Google Shape;186;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7" name="Google Shape;187;p19"/>
          <p:cNvSpPr/>
          <p:nvPr/>
        </p:nvSpPr>
        <p:spPr>
          <a:xfrm>
            <a:off x="571500" y="3805237"/>
            <a:ext cx="11049000" cy="381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9"/>
          <p:cNvSpPr txBox="1"/>
          <p:nvPr/>
        </p:nvSpPr>
        <p:spPr>
          <a:xfrm>
            <a:off x="666750" y="3929062"/>
            <a:ext cx="165095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Lato"/>
                <a:ea typeface="Lato"/>
                <a:cs typeface="Lato"/>
                <a:sym typeface="Lato"/>
              </a:rPr>
              <a:t>1. Validate</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Lato"/>
                <a:ea typeface="Lato"/>
                <a:cs typeface="Lato"/>
                <a:sym typeface="Lato"/>
              </a:rPr>
              <a:t>Xác thực dữ liệu</a:t>
            </a:r>
            <a:endParaRPr/>
          </a:p>
        </p:txBody>
      </p:sp>
      <p:sp>
        <p:nvSpPr>
          <p:cNvPr id="189" name="Google Shape;189;p19"/>
          <p:cNvSpPr txBox="1"/>
          <p:nvPr/>
        </p:nvSpPr>
        <p:spPr>
          <a:xfrm>
            <a:off x="2508200" y="3929062"/>
            <a:ext cx="165095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Lato"/>
                <a:ea typeface="Lato"/>
                <a:cs typeface="Lato"/>
                <a:sym typeface="Lato"/>
              </a:rPr>
              <a:t>2. Stock</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Lato"/>
                <a:ea typeface="Lato"/>
                <a:cs typeface="Lato"/>
                <a:sym typeface="Lato"/>
              </a:rPr>
              <a:t>Kiểm tra tồn kho</a:t>
            </a:r>
            <a:endParaRPr/>
          </a:p>
        </p:txBody>
      </p:sp>
      <p:sp>
        <p:nvSpPr>
          <p:cNvPr id="190" name="Google Shape;190;p19"/>
          <p:cNvSpPr txBox="1"/>
          <p:nvPr/>
        </p:nvSpPr>
        <p:spPr>
          <a:xfrm>
            <a:off x="4349650" y="3929062"/>
            <a:ext cx="165095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Lato"/>
                <a:ea typeface="Lato"/>
                <a:cs typeface="Lato"/>
                <a:sym typeface="Lato"/>
              </a:rPr>
              <a:t>3. Finance</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Lato"/>
                <a:ea typeface="Lato"/>
                <a:cs typeface="Lato"/>
                <a:sym typeface="Lato"/>
              </a:rPr>
              <a:t>Tính thuế &amp; giảm giá</a:t>
            </a:r>
            <a:endParaRPr/>
          </a:p>
        </p:txBody>
      </p:sp>
      <p:sp>
        <p:nvSpPr>
          <p:cNvPr id="191" name="Google Shape;191;p19"/>
          <p:cNvSpPr txBox="1"/>
          <p:nvPr/>
        </p:nvSpPr>
        <p:spPr>
          <a:xfrm>
            <a:off x="6191101" y="3929062"/>
            <a:ext cx="165095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Lato"/>
                <a:ea typeface="Lato"/>
                <a:cs typeface="Lato"/>
                <a:sym typeface="Lato"/>
              </a:rPr>
              <a:t>4. Payment</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Lato"/>
                <a:ea typeface="Lato"/>
                <a:cs typeface="Lato"/>
                <a:sym typeface="Lato"/>
              </a:rPr>
              <a:t>API Stripe Gateway</a:t>
            </a:r>
            <a:endParaRPr/>
          </a:p>
        </p:txBody>
      </p:sp>
      <p:sp>
        <p:nvSpPr>
          <p:cNvPr id="192" name="Google Shape;192;p19"/>
          <p:cNvSpPr txBox="1"/>
          <p:nvPr/>
        </p:nvSpPr>
        <p:spPr>
          <a:xfrm>
            <a:off x="8032551" y="3929062"/>
            <a:ext cx="165095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Lato"/>
                <a:ea typeface="Lato"/>
                <a:cs typeface="Lato"/>
                <a:sym typeface="Lato"/>
              </a:rPr>
              <a:t>5. Persistence</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Lato"/>
                <a:ea typeface="Lato"/>
                <a:cs typeface="Lato"/>
                <a:sym typeface="Lato"/>
              </a:rPr>
              <a:t>Lưu PostgreSQL</a:t>
            </a:r>
            <a:endParaRPr/>
          </a:p>
        </p:txBody>
      </p:sp>
      <p:sp>
        <p:nvSpPr>
          <p:cNvPr id="193" name="Google Shape;193;p19"/>
          <p:cNvSpPr txBox="1"/>
          <p:nvPr/>
        </p:nvSpPr>
        <p:spPr>
          <a:xfrm>
            <a:off x="9874001" y="3929062"/>
            <a:ext cx="165095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Lato"/>
                <a:ea typeface="Lato"/>
                <a:cs typeface="Lato"/>
                <a:sym typeface="Lato"/>
              </a:rPr>
              <a:t>6. Notify</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Lato"/>
                <a:ea typeface="Lato"/>
                <a:cs typeface="Lato"/>
                <a:sym typeface="Lato"/>
              </a:rPr>
              <a:t>Xuất biên lai</a:t>
            </a:r>
            <a:endParaRPr/>
          </a:p>
        </p:txBody>
      </p:sp>
      <p:sp>
        <p:nvSpPr>
          <p:cNvPr id="194" name="Google Shape;194;p19"/>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QUY TRÌNH XỬ LÝ ĐƠN HÀNG (ORDER SYSTEM)</a:t>
            </a:r>
            <a:endParaRPr/>
          </a:p>
        </p:txBody>
      </p:sp>
      <p:sp>
        <p:nvSpPr>
          <p:cNvPr id="195" name="Google Shape;195;p19"/>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txBox="1"/>
          <p:nvPr/>
        </p:nvSpPr>
        <p:spPr>
          <a:xfrm>
            <a:off x="571500" y="2671762"/>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Luồng nghiệp vụ bao gồm 6 bước logic liên kết tuần tự:</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pic>
        <p:nvPicPr>
          <p:cNvPr descr="image.png" id="201" name="Google Shape;201;p20"/>
          <p:cNvPicPr preferRelativeResize="0"/>
          <p:nvPr/>
        </p:nvPicPr>
        <p:blipFill rotWithShape="1">
          <a:blip r:embed="rId3">
            <a:alphaModFix/>
          </a:blip>
          <a:srcRect b="0" l="0" r="0" t="0"/>
          <a:stretch/>
        </p:blipFill>
        <p:spPr>
          <a:xfrm>
            <a:off x="7062475" y="1993587"/>
            <a:ext cx="5334000" cy="3810000"/>
          </a:xfrm>
          <a:prstGeom prst="rect">
            <a:avLst/>
          </a:prstGeom>
          <a:noFill/>
          <a:ln>
            <a:noFill/>
          </a:ln>
        </p:spPr>
      </p:pic>
      <p:sp>
        <p:nvSpPr>
          <p:cNvPr id="202" name="Google Shape;202;p20"/>
          <p:cNvSpPr txBox="1"/>
          <p:nvPr/>
        </p:nvSpPr>
        <p:spPr>
          <a:xfrm>
            <a:off x="1347475" y="1855475"/>
            <a:ext cx="56007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oppins"/>
                <a:ea typeface="Poppins"/>
                <a:cs typeface="Poppins"/>
                <a:sym typeface="Poppins"/>
              </a:rPr>
              <a:t>Kiến trúc cũ (order_system_bad)</a:t>
            </a:r>
            <a:endParaRPr/>
          </a:p>
        </p:txBody>
      </p:sp>
      <p:sp>
        <p:nvSpPr>
          <p:cNvPr id="203" name="Google Shape;203;p20"/>
          <p:cNvSpPr txBox="1"/>
          <p:nvPr/>
        </p:nvSpPr>
        <p:spPr>
          <a:xfrm>
            <a:off x="1347475" y="3989075"/>
            <a:ext cx="56007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oppins"/>
                <a:ea typeface="Poppins"/>
                <a:cs typeface="Poppins"/>
                <a:sym typeface="Poppins"/>
              </a:rPr>
              <a:t>Kiến trúc mới (order_system_good)</a:t>
            </a:r>
            <a:endParaRPr/>
          </a:p>
        </p:txBody>
      </p:sp>
      <p:sp>
        <p:nvSpPr>
          <p:cNvPr id="204" name="Google Shape;204;p20"/>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ĐỐI CHỨNG MÃ NGUỒN (BAD VS. GOOD)</a:t>
            </a:r>
            <a:endParaRPr/>
          </a:p>
        </p:txBody>
      </p:sp>
      <p:sp>
        <p:nvSpPr>
          <p:cNvPr id="205" name="Google Shape;205;p20"/>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0"/>
          <p:cNvSpPr txBox="1"/>
          <p:nvPr/>
        </p:nvSpPr>
        <p:spPr>
          <a:xfrm>
            <a:off x="1347475" y="2322200"/>
            <a:ext cx="5334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11D48"/>
                </a:solidFill>
                <a:latin typeface="Lato"/>
                <a:ea typeface="Lato"/>
                <a:cs typeface="Lato"/>
                <a:sym typeface="Lato"/>
              </a:rPr>
              <a:t>- Hard-coded dependencies (Coupling cao).</a:t>
            </a:r>
            <a:endParaRPr/>
          </a:p>
        </p:txBody>
      </p:sp>
      <p:sp>
        <p:nvSpPr>
          <p:cNvPr id="207" name="Google Shape;207;p20"/>
          <p:cNvSpPr txBox="1"/>
          <p:nvPr/>
        </p:nvSpPr>
        <p:spPr>
          <a:xfrm>
            <a:off x="1347475" y="2817500"/>
            <a:ext cx="5334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11D48"/>
                </a:solidFill>
                <a:latin typeface="Lato"/>
                <a:ea typeface="Lato"/>
                <a:cs typeface="Lato"/>
                <a:sym typeface="Lato"/>
              </a:rPr>
              <a:t>- Gọi datetime.now() trực tiếp (Mất Controllability).</a:t>
            </a:r>
            <a:endParaRPr/>
          </a:p>
        </p:txBody>
      </p:sp>
      <p:sp>
        <p:nvSpPr>
          <p:cNvPr id="208" name="Google Shape;208;p20"/>
          <p:cNvSpPr txBox="1"/>
          <p:nvPr/>
        </p:nvSpPr>
        <p:spPr>
          <a:xfrm>
            <a:off x="1347475" y="3312800"/>
            <a:ext cx="5334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11D48"/>
                </a:solidFill>
                <a:latin typeface="Lato"/>
                <a:ea typeface="Lato"/>
                <a:cs typeface="Lato"/>
                <a:sym typeface="Lato"/>
              </a:rPr>
              <a:t>- Trả về mã lỗi tù mù (Low Observability).</a:t>
            </a:r>
            <a:endParaRPr/>
          </a:p>
        </p:txBody>
      </p:sp>
      <p:sp>
        <p:nvSpPr>
          <p:cNvPr id="209" name="Google Shape;209;p20"/>
          <p:cNvSpPr txBox="1"/>
          <p:nvPr/>
        </p:nvSpPr>
        <p:spPr>
          <a:xfrm>
            <a:off x="1347475" y="4455800"/>
            <a:ext cx="5334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6A34A"/>
                </a:solidFill>
                <a:latin typeface="Lato"/>
                <a:ea typeface="Lato"/>
                <a:cs typeface="Lato"/>
                <a:sym typeface="Lato"/>
              </a:rPr>
              <a:t>+ Cô lập qua Ports/Interfaces.</a:t>
            </a:r>
            <a:endParaRPr/>
          </a:p>
        </p:txBody>
      </p:sp>
      <p:sp>
        <p:nvSpPr>
          <p:cNvPr id="210" name="Google Shape;210;p20"/>
          <p:cNvSpPr txBox="1"/>
          <p:nvPr/>
        </p:nvSpPr>
        <p:spPr>
          <a:xfrm>
            <a:off x="1347475" y="4951100"/>
            <a:ext cx="5334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6A34A"/>
                </a:solidFill>
                <a:latin typeface="Lato"/>
                <a:ea typeface="Lato"/>
                <a:cs typeface="Lato"/>
                <a:sym typeface="Lato"/>
              </a:rPr>
              <a:t>+ Tiêm phụ thuộc qua __init__.</a:t>
            </a:r>
            <a:endParaRPr/>
          </a:p>
        </p:txBody>
      </p:sp>
      <p:sp>
        <p:nvSpPr>
          <p:cNvPr id="211" name="Google Shape;211;p20"/>
          <p:cNvSpPr txBox="1"/>
          <p:nvPr/>
        </p:nvSpPr>
        <p:spPr>
          <a:xfrm>
            <a:off x="1347475" y="5446400"/>
            <a:ext cx="5334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6A34A"/>
                </a:solidFill>
                <a:latin typeface="Lato"/>
                <a:ea typeface="Lato"/>
                <a:cs typeface="Lato"/>
                <a:sym typeface="Lato"/>
              </a:rPr>
              <a:t>+ Custom Exceptions &amp; Logger chuyên nghiệp.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pic>
        <p:nvPicPr>
          <p:cNvPr descr="image.png" id="216" name="Google Shape;216;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7" name="Google Shape;217;p21"/>
          <p:cNvPicPr preferRelativeResize="0"/>
          <p:nvPr/>
        </p:nvPicPr>
        <p:blipFill rotWithShape="1">
          <a:blip r:embed="rId4">
            <a:alphaModFix/>
          </a:blip>
          <a:srcRect b="0" l="0" r="0" t="0"/>
          <a:stretch/>
        </p:blipFill>
        <p:spPr>
          <a:xfrm>
            <a:off x="571500" y="2514600"/>
            <a:ext cx="3555950" cy="2809875"/>
          </a:xfrm>
          <a:prstGeom prst="rect">
            <a:avLst/>
          </a:prstGeom>
          <a:noFill/>
          <a:ln>
            <a:noFill/>
          </a:ln>
        </p:spPr>
      </p:pic>
      <p:pic>
        <p:nvPicPr>
          <p:cNvPr descr="image.png" id="218" name="Google Shape;218;p21"/>
          <p:cNvPicPr preferRelativeResize="0"/>
          <p:nvPr/>
        </p:nvPicPr>
        <p:blipFill rotWithShape="1">
          <a:blip r:embed="rId5">
            <a:alphaModFix/>
          </a:blip>
          <a:srcRect b="0" l="0" r="0" t="0"/>
          <a:stretch/>
        </p:blipFill>
        <p:spPr>
          <a:xfrm>
            <a:off x="4317950" y="2514600"/>
            <a:ext cx="3555950" cy="2809875"/>
          </a:xfrm>
          <a:prstGeom prst="rect">
            <a:avLst/>
          </a:prstGeom>
          <a:noFill/>
          <a:ln>
            <a:noFill/>
          </a:ln>
        </p:spPr>
      </p:pic>
      <p:pic>
        <p:nvPicPr>
          <p:cNvPr descr="image.png" id="219" name="Google Shape;219;p21"/>
          <p:cNvPicPr preferRelativeResize="0"/>
          <p:nvPr/>
        </p:nvPicPr>
        <p:blipFill rotWithShape="1">
          <a:blip r:embed="rId6">
            <a:alphaModFix/>
          </a:blip>
          <a:srcRect b="0" l="0" r="0" t="0"/>
          <a:stretch/>
        </p:blipFill>
        <p:spPr>
          <a:xfrm>
            <a:off x="8064400" y="2514600"/>
            <a:ext cx="3555950" cy="2809875"/>
          </a:xfrm>
          <a:prstGeom prst="rect">
            <a:avLst/>
          </a:prstGeom>
          <a:noFill/>
          <a:ln>
            <a:noFill/>
          </a:ln>
        </p:spPr>
      </p:pic>
      <p:pic>
        <p:nvPicPr>
          <p:cNvPr descr="image.png" id="220" name="Google Shape;220;p21"/>
          <p:cNvPicPr preferRelativeResize="0"/>
          <p:nvPr/>
        </p:nvPicPr>
        <p:blipFill rotWithShape="1">
          <a:blip r:embed="rId7">
            <a:alphaModFix/>
          </a:blip>
          <a:srcRect b="0" l="0" r="0" t="0"/>
          <a:stretch/>
        </p:blipFill>
        <p:spPr>
          <a:xfrm>
            <a:off x="857250" y="2838450"/>
            <a:ext cx="333375" cy="381000"/>
          </a:xfrm>
          <a:prstGeom prst="rect">
            <a:avLst/>
          </a:prstGeom>
          <a:noFill/>
          <a:ln>
            <a:noFill/>
          </a:ln>
        </p:spPr>
      </p:pic>
      <p:sp>
        <p:nvSpPr>
          <p:cNvPr id="221" name="Google Shape;221;p21"/>
          <p:cNvSpPr txBox="1"/>
          <p:nvPr/>
        </p:nvSpPr>
        <p:spPr>
          <a:xfrm>
            <a:off x="857250" y="3409950"/>
            <a:ext cx="313367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Frozen Time</a:t>
            </a:r>
            <a:endParaRPr/>
          </a:p>
        </p:txBody>
      </p:sp>
      <p:pic>
        <p:nvPicPr>
          <p:cNvPr descr="image.png" id="222" name="Google Shape;222;p21"/>
          <p:cNvPicPr preferRelativeResize="0"/>
          <p:nvPr/>
        </p:nvPicPr>
        <p:blipFill rotWithShape="1">
          <a:blip r:embed="rId8">
            <a:alphaModFix/>
          </a:blip>
          <a:srcRect b="0" l="0" r="0" t="0"/>
          <a:stretch/>
        </p:blipFill>
        <p:spPr>
          <a:xfrm>
            <a:off x="4603700" y="2838450"/>
            <a:ext cx="428625" cy="381000"/>
          </a:xfrm>
          <a:prstGeom prst="rect">
            <a:avLst/>
          </a:prstGeom>
          <a:noFill/>
          <a:ln>
            <a:noFill/>
          </a:ln>
        </p:spPr>
      </p:pic>
      <p:sp>
        <p:nvSpPr>
          <p:cNvPr id="223" name="Google Shape;223;p21"/>
          <p:cNvSpPr txBox="1"/>
          <p:nvPr/>
        </p:nvSpPr>
        <p:spPr>
          <a:xfrm>
            <a:off x="4603700" y="3409950"/>
            <a:ext cx="313367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Behavior Mocking</a:t>
            </a:r>
            <a:endParaRPr/>
          </a:p>
        </p:txBody>
      </p:sp>
      <p:pic>
        <p:nvPicPr>
          <p:cNvPr descr="image.png" id="224" name="Google Shape;224;p21"/>
          <p:cNvPicPr preferRelativeResize="0"/>
          <p:nvPr/>
        </p:nvPicPr>
        <p:blipFill rotWithShape="1">
          <a:blip r:embed="rId9">
            <a:alphaModFix/>
          </a:blip>
          <a:srcRect b="0" l="0" r="0" t="0"/>
          <a:stretch/>
        </p:blipFill>
        <p:spPr>
          <a:xfrm>
            <a:off x="8350150" y="2838450"/>
            <a:ext cx="476250" cy="381000"/>
          </a:xfrm>
          <a:prstGeom prst="rect">
            <a:avLst/>
          </a:prstGeom>
          <a:noFill/>
          <a:ln>
            <a:noFill/>
          </a:ln>
        </p:spPr>
      </p:pic>
      <p:sp>
        <p:nvSpPr>
          <p:cNvPr id="225" name="Google Shape;225;p21"/>
          <p:cNvSpPr txBox="1"/>
          <p:nvPr/>
        </p:nvSpPr>
        <p:spPr>
          <a:xfrm>
            <a:off x="8350150" y="3409950"/>
            <a:ext cx="313367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oppins"/>
                <a:ea typeface="Poppins"/>
                <a:cs typeface="Poppins"/>
                <a:sym typeface="Poppins"/>
              </a:rPr>
              <a:t>Sandbox Isolation</a:t>
            </a:r>
            <a:endParaRPr/>
          </a:p>
        </p:txBody>
      </p:sp>
      <p:sp>
        <p:nvSpPr>
          <p:cNvPr id="226" name="Google Shape;226;p21"/>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CHIẾN LƯỢC UNIT TESTING VỚI MOCKS</a:t>
            </a:r>
            <a:endParaRPr/>
          </a:p>
        </p:txBody>
      </p:sp>
      <p:sp>
        <p:nvSpPr>
          <p:cNvPr id="227" name="Google Shape;227;p21"/>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1"/>
          <p:cNvSpPr txBox="1"/>
          <p:nvPr/>
        </p:nvSpPr>
        <p:spPr>
          <a:xfrm>
            <a:off x="857250" y="3933825"/>
            <a:ext cx="29844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Ép mốc thời gian cố định thông qua </a:t>
            </a:r>
            <a:r>
              <a:rPr b="1" i="0" lang="en-US" sz="1500" u="none" cap="none" strike="noStrike">
                <a:solidFill>
                  <a:srgbClr val="334155"/>
                </a:solidFill>
                <a:latin typeface="Lato"/>
                <a:ea typeface="Lato"/>
                <a:cs typeface="Lato"/>
                <a:sym typeface="Lato"/>
              </a:rPr>
              <a:t>StubTimeProvider</a:t>
            </a:r>
            <a:r>
              <a:rPr b="0" i="0" lang="en-US" sz="1500" u="none" cap="none" strike="noStrike">
                <a:solidFill>
                  <a:srgbClr val="334155"/>
                </a:solidFill>
                <a:latin typeface="Lato"/>
                <a:ea typeface="Lato"/>
                <a:cs typeface="Lato"/>
                <a:sym typeface="Lato"/>
              </a:rPr>
              <a:t> để test logic giảm giá ngoài giờ/trong giờ.</a:t>
            </a:r>
            <a:endParaRPr/>
          </a:p>
        </p:txBody>
      </p:sp>
      <p:sp>
        <p:nvSpPr>
          <p:cNvPr id="229" name="Google Shape;229;p21"/>
          <p:cNvSpPr txBox="1"/>
          <p:nvPr/>
        </p:nvSpPr>
        <p:spPr>
          <a:xfrm>
            <a:off x="4603700" y="3933825"/>
            <a:ext cx="29844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Sử dụng </a:t>
            </a:r>
            <a:r>
              <a:rPr b="1" i="0" lang="en-US" sz="1500" u="none" cap="none" strike="noStrike">
                <a:solidFill>
                  <a:srgbClr val="334155"/>
                </a:solidFill>
                <a:latin typeface="Lato"/>
                <a:ea typeface="Lato"/>
                <a:cs typeface="Lato"/>
                <a:sym typeface="Lato"/>
              </a:rPr>
              <a:t>unittest.mock</a:t>
            </a:r>
            <a:r>
              <a:rPr b="0" i="0" lang="en-US" sz="1500" u="none" cap="none" strike="noStrike">
                <a:solidFill>
                  <a:srgbClr val="334155"/>
                </a:solidFill>
                <a:latin typeface="Lato"/>
                <a:ea typeface="Lato"/>
                <a:cs typeface="Lato"/>
                <a:sym typeface="Lato"/>
              </a:rPr>
              <a:t> để xác minh hành vi tương tác API mà không cần kết nối mạng thật.</a:t>
            </a:r>
            <a:endParaRPr/>
          </a:p>
        </p:txBody>
      </p:sp>
      <p:sp>
        <p:nvSpPr>
          <p:cNvPr id="230" name="Google Shape;230;p21"/>
          <p:cNvSpPr txBox="1"/>
          <p:nvPr/>
        </p:nvSpPr>
        <p:spPr>
          <a:xfrm>
            <a:off x="8350150" y="3933825"/>
            <a:ext cx="29844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Tạo môi trường hộp cát 100% độc lập, thực thi bộ test trong vài mili-giây với độ tin cậy tuyệt đối.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pic>
        <p:nvPicPr>
          <p:cNvPr descr="image.png" id="235" name="Google Shape;23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6" name="Google Shape;236;p22"/>
          <p:cNvPicPr preferRelativeResize="0"/>
          <p:nvPr/>
        </p:nvPicPr>
        <p:blipFill rotWithShape="1">
          <a:blip r:embed="rId4">
            <a:alphaModFix/>
          </a:blip>
          <a:srcRect b="0" l="0" r="0" t="0"/>
          <a:stretch/>
        </p:blipFill>
        <p:spPr>
          <a:xfrm>
            <a:off x="6286500" y="2014537"/>
            <a:ext cx="5334000" cy="3810000"/>
          </a:xfrm>
          <a:prstGeom prst="rect">
            <a:avLst/>
          </a:prstGeom>
          <a:noFill/>
          <a:ln>
            <a:noFill/>
          </a:ln>
        </p:spPr>
      </p:pic>
      <p:sp>
        <p:nvSpPr>
          <p:cNvPr id="237" name="Google Shape;237;p22"/>
          <p:cNvSpPr txBox="1"/>
          <p:nvPr/>
        </p:nvSpPr>
        <p:spPr>
          <a:xfrm>
            <a:off x="571500" y="2581275"/>
            <a:ext cx="56007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oppins"/>
                <a:ea typeface="Poppins"/>
                <a:cs typeface="Poppins"/>
                <a:sym typeface="Poppins"/>
              </a:rPr>
              <a:t>measure_metrics.py</a:t>
            </a:r>
            <a:endParaRPr/>
          </a:p>
        </p:txBody>
      </p:sp>
      <p:pic>
        <p:nvPicPr>
          <p:cNvPr descr="image.png" id="238" name="Google Shape;238;p22"/>
          <p:cNvPicPr preferRelativeResize="0"/>
          <p:nvPr/>
        </p:nvPicPr>
        <p:blipFill rotWithShape="1">
          <a:blip r:embed="rId5">
            <a:alphaModFix/>
          </a:blip>
          <a:srcRect b="0" l="0" r="0" t="0"/>
          <a:stretch/>
        </p:blipFill>
        <p:spPr>
          <a:xfrm>
            <a:off x="6286500" y="2014537"/>
            <a:ext cx="5334000" cy="3810000"/>
          </a:xfrm>
          <a:prstGeom prst="rect">
            <a:avLst/>
          </a:prstGeom>
          <a:noFill/>
          <a:ln>
            <a:noFill/>
          </a:ln>
        </p:spPr>
      </p:pic>
      <p:sp>
        <p:nvSpPr>
          <p:cNvPr id="239" name="Google Shape;239;p22"/>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CÔNG CỤ ĐO LƯỜNG METRICS TĨNH</a:t>
            </a:r>
            <a:endParaRPr/>
          </a:p>
        </p:txBody>
      </p:sp>
      <p:sp>
        <p:nvSpPr>
          <p:cNvPr id="240" name="Google Shape;240;p22"/>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2"/>
          <p:cNvSpPr txBox="1"/>
          <p:nvPr/>
        </p:nvSpPr>
        <p:spPr>
          <a:xfrm>
            <a:off x="904875" y="3009900"/>
            <a:ext cx="5000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Ứng dụng thư viện </a:t>
            </a:r>
            <a:r>
              <a:rPr b="1" i="0" lang="en-US" sz="1500" u="none" cap="none" strike="noStrike">
                <a:solidFill>
                  <a:srgbClr val="334155"/>
                </a:solidFill>
                <a:latin typeface="Lato"/>
                <a:ea typeface="Lato"/>
                <a:cs typeface="Lato"/>
                <a:sym typeface="Lato"/>
              </a:rPr>
              <a:t>ast</a:t>
            </a:r>
            <a:r>
              <a:rPr b="0" i="0" lang="en-US" sz="1500" u="none" cap="none" strike="noStrike">
                <a:solidFill>
                  <a:srgbClr val="334155"/>
                </a:solidFill>
                <a:latin typeface="Lato"/>
                <a:ea typeface="Lato"/>
                <a:cs typeface="Lato"/>
                <a:sym typeface="Lato"/>
              </a:rPr>
              <a:t> (Abstract Syntax Tree) của Python.</a:t>
            </a:r>
            <a:endParaRPr/>
          </a:p>
        </p:txBody>
      </p:sp>
      <p:sp>
        <p:nvSpPr>
          <p:cNvPr id="242" name="Google Shape;242;p22"/>
          <p:cNvSpPr txBox="1"/>
          <p:nvPr/>
        </p:nvSpPr>
        <p:spPr>
          <a:xfrm>
            <a:off x="904875" y="3457575"/>
            <a:ext cx="5000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Tự động duyệt cây cú pháp để tính toán các chỉ số:</a:t>
            </a:r>
            <a:endParaRPr/>
          </a:p>
        </p:txBody>
      </p:sp>
      <p:pic>
        <p:nvPicPr>
          <p:cNvPr descr="image.png" id="243" name="Google Shape;243;p22"/>
          <p:cNvPicPr preferRelativeResize="0"/>
          <p:nvPr/>
        </p:nvPicPr>
        <p:blipFill rotWithShape="1">
          <a:blip r:embed="rId6">
            <a:alphaModFix/>
          </a:blip>
          <a:srcRect b="0" l="0" r="0" t="0"/>
          <a:stretch/>
        </p:blipFill>
        <p:spPr>
          <a:xfrm>
            <a:off x="571500" y="3009900"/>
            <a:ext cx="171450" cy="200025"/>
          </a:xfrm>
          <a:prstGeom prst="rect">
            <a:avLst/>
          </a:prstGeom>
          <a:noFill/>
          <a:ln>
            <a:noFill/>
          </a:ln>
        </p:spPr>
      </p:pic>
      <p:pic>
        <p:nvPicPr>
          <p:cNvPr descr="image.png" id="244" name="Google Shape;244;p22"/>
          <p:cNvPicPr preferRelativeResize="0"/>
          <p:nvPr/>
        </p:nvPicPr>
        <p:blipFill rotWithShape="1">
          <a:blip r:embed="rId6">
            <a:alphaModFix/>
          </a:blip>
          <a:srcRect b="0" l="0" r="0" t="0"/>
          <a:stretch/>
        </p:blipFill>
        <p:spPr>
          <a:xfrm>
            <a:off x="571500" y="3457575"/>
            <a:ext cx="171450" cy="200025"/>
          </a:xfrm>
          <a:prstGeom prst="rect">
            <a:avLst/>
          </a:prstGeom>
          <a:noFill/>
          <a:ln>
            <a:noFill/>
          </a:ln>
        </p:spPr>
      </p:pic>
      <p:sp>
        <p:nvSpPr>
          <p:cNvPr id="245" name="Google Shape;245;p22"/>
          <p:cNvSpPr txBox="1"/>
          <p:nvPr/>
        </p:nvSpPr>
        <p:spPr>
          <a:xfrm>
            <a:off x="1285875" y="3905250"/>
            <a:ext cx="4619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NoM</a:t>
            </a:r>
            <a:r>
              <a:rPr b="0" i="0" lang="en-US" sz="1500" u="none" cap="none" strike="noStrike">
                <a:solidFill>
                  <a:srgbClr val="334155"/>
                </a:solidFill>
                <a:latin typeface="Lato"/>
                <a:ea typeface="Lato"/>
                <a:cs typeface="Lato"/>
                <a:sym typeface="Lato"/>
              </a:rPr>
              <a:t>: Số lượng phương thức.</a:t>
            </a:r>
            <a:endParaRPr/>
          </a:p>
        </p:txBody>
      </p:sp>
      <p:sp>
        <p:nvSpPr>
          <p:cNvPr id="246" name="Google Shape;246;p22"/>
          <p:cNvSpPr txBox="1"/>
          <p:nvPr/>
        </p:nvSpPr>
        <p:spPr>
          <a:xfrm>
            <a:off x="1285875" y="4352925"/>
            <a:ext cx="4619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WMC</a:t>
            </a:r>
            <a:r>
              <a:rPr b="0" i="0" lang="en-US" sz="1500" u="none" cap="none" strike="noStrike">
                <a:solidFill>
                  <a:srgbClr val="334155"/>
                </a:solidFill>
                <a:latin typeface="Lato"/>
                <a:ea typeface="Lato"/>
                <a:cs typeface="Lato"/>
                <a:sym typeface="Lato"/>
              </a:rPr>
              <a:t>: Tổng trọng số độ phức tạp.</a:t>
            </a:r>
            <a:endParaRPr/>
          </a:p>
        </p:txBody>
      </p:sp>
      <p:sp>
        <p:nvSpPr>
          <p:cNvPr id="247" name="Google Shape;247;p22"/>
          <p:cNvSpPr txBox="1"/>
          <p:nvPr/>
        </p:nvSpPr>
        <p:spPr>
          <a:xfrm>
            <a:off x="1285875" y="4800600"/>
            <a:ext cx="4619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Avg CC</a:t>
            </a:r>
            <a:r>
              <a:rPr b="0" i="0" lang="en-US" sz="1500" u="none" cap="none" strike="noStrike">
                <a:solidFill>
                  <a:srgbClr val="334155"/>
                </a:solidFill>
                <a:latin typeface="Lato"/>
                <a:ea typeface="Lato"/>
                <a:cs typeface="Lato"/>
                <a:sym typeface="Lato"/>
              </a:rPr>
              <a:t>: Độ phức tạp TB/Hàm.</a:t>
            </a:r>
            <a:endParaRPr/>
          </a:p>
        </p:txBody>
      </p:sp>
      <p:pic>
        <p:nvPicPr>
          <p:cNvPr descr="image.png" id="248" name="Google Shape;248;p22"/>
          <p:cNvPicPr preferRelativeResize="0"/>
          <p:nvPr/>
        </p:nvPicPr>
        <p:blipFill rotWithShape="1">
          <a:blip r:embed="rId6">
            <a:alphaModFix/>
          </a:blip>
          <a:srcRect b="0" l="0" r="0" t="0"/>
          <a:stretch/>
        </p:blipFill>
        <p:spPr>
          <a:xfrm>
            <a:off x="952500" y="3905250"/>
            <a:ext cx="171450" cy="200025"/>
          </a:xfrm>
          <a:prstGeom prst="rect">
            <a:avLst/>
          </a:prstGeom>
          <a:noFill/>
          <a:ln>
            <a:noFill/>
          </a:ln>
        </p:spPr>
      </p:pic>
      <p:pic>
        <p:nvPicPr>
          <p:cNvPr descr="image.png" id="249" name="Google Shape;249;p22"/>
          <p:cNvPicPr preferRelativeResize="0"/>
          <p:nvPr/>
        </p:nvPicPr>
        <p:blipFill rotWithShape="1">
          <a:blip r:embed="rId6">
            <a:alphaModFix/>
          </a:blip>
          <a:srcRect b="0" l="0" r="0" t="0"/>
          <a:stretch/>
        </p:blipFill>
        <p:spPr>
          <a:xfrm>
            <a:off x="952500" y="4352925"/>
            <a:ext cx="171450" cy="200025"/>
          </a:xfrm>
          <a:prstGeom prst="rect">
            <a:avLst/>
          </a:prstGeom>
          <a:noFill/>
          <a:ln>
            <a:noFill/>
          </a:ln>
        </p:spPr>
      </p:pic>
      <p:pic>
        <p:nvPicPr>
          <p:cNvPr descr="image.png" id="250" name="Google Shape;250;p22"/>
          <p:cNvPicPr preferRelativeResize="0"/>
          <p:nvPr/>
        </p:nvPicPr>
        <p:blipFill rotWithShape="1">
          <a:blip r:embed="rId6">
            <a:alphaModFix/>
          </a:blip>
          <a:srcRect b="0" l="0" r="0" t="0"/>
          <a:stretch/>
        </p:blipFill>
        <p:spPr>
          <a:xfrm>
            <a:off x="952500" y="4800600"/>
            <a:ext cx="171450" cy="200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pic>
        <p:nvPicPr>
          <p:cNvPr descr="image.png" id="255" name="Google Shape;255;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6" name="Google Shape;256;p23"/>
          <p:cNvSpPr/>
          <p:nvPr/>
        </p:nvSpPr>
        <p:spPr>
          <a:xfrm>
            <a:off x="571500" y="2424112"/>
            <a:ext cx="11049000" cy="299085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57" name="Google Shape;257;p23"/>
          <p:cNvGraphicFramePr/>
          <p:nvPr/>
        </p:nvGraphicFramePr>
        <p:xfrm>
          <a:off x="571500" y="2424112"/>
          <a:ext cx="3000000" cy="3000000"/>
        </p:xfrm>
        <a:graphic>
          <a:graphicData uri="http://schemas.openxmlformats.org/drawingml/2006/table">
            <a:tbl>
              <a:tblPr bandRow="1" firstRow="1">
                <a:noFill/>
                <a:tableStyleId>{191F9AB5-944C-4FD9-B1DA-5F60A9F09B68}</a:tableStyleId>
              </a:tblPr>
              <a:tblGrid>
                <a:gridCol w="2376775"/>
                <a:gridCol w="2082850"/>
                <a:gridCol w="2381400"/>
                <a:gridCol w="4207975"/>
              </a:tblGrid>
              <a:tr h="598175">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Chỉ số đo lường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563EB"/>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Kiến trúc cũ (Bad)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563EB"/>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Kiến trúc mới (Good)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563EB"/>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Nhận xét Testability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563EB"/>
                    </a:solid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Số lượng hàm (NoM)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Tăng tính Cohesion (phân rã đơn nhiệm).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Tổng WMC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14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Tăng cường xử lý ngoại lệ an toàn.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Phức tạp TB/Hàm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4.0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3.5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Giảm Test Effort</a:t>
                      </a:r>
                      <a:r>
                        <a:rPr b="0" i="0" lang="en-US" sz="1500" u="none" cap="none" strike="noStrike">
                          <a:solidFill>
                            <a:srgbClr val="334155"/>
                          </a:solidFill>
                          <a:latin typeface="Lato"/>
                          <a:ea typeface="Lato"/>
                          <a:cs typeface="Lato"/>
                          <a:sym typeface="Lato"/>
                        </a:rPr>
                        <a:t> cho từng hàm.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Đánh giá chung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Rất thấp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Rất cao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Kiến trúc mới tối ưu cho kiểm thử.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258" name="Google Shape;258;p23"/>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2563EB"/>
                </a:solidFill>
                <a:latin typeface="Poppins"/>
                <a:ea typeface="Poppins"/>
                <a:cs typeface="Poppins"/>
                <a:sym typeface="Poppins"/>
              </a:rPr>
              <a:t>KẾT QUẢ ĐO LƯỜNG THỰC NGHIỆM</a:t>
            </a:r>
            <a:endParaRPr/>
          </a:p>
        </p:txBody>
      </p:sp>
      <p:sp>
        <p:nvSpPr>
          <p:cNvPr id="259" name="Google Shape;259;p23"/>
          <p:cNvSpPr/>
          <p:nvPr/>
        </p:nvSpPr>
        <p:spPr>
          <a:xfrm>
            <a:off x="571500" y="571500"/>
            <a:ext cx="76200"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3"/>
          <p:cNvSpPr/>
          <p:nvPr/>
        </p:nvSpPr>
        <p:spPr>
          <a:xfrm>
            <a:off x="571500" y="3600450"/>
            <a:ext cx="237678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3"/>
          <p:cNvSpPr/>
          <p:nvPr/>
        </p:nvSpPr>
        <p:spPr>
          <a:xfrm>
            <a:off x="2948285" y="3600450"/>
            <a:ext cx="20828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3"/>
          <p:cNvSpPr/>
          <p:nvPr/>
        </p:nvSpPr>
        <p:spPr>
          <a:xfrm>
            <a:off x="5031134" y="3600450"/>
            <a:ext cx="23813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23"/>
          <p:cNvSpPr/>
          <p:nvPr/>
        </p:nvSpPr>
        <p:spPr>
          <a:xfrm>
            <a:off x="7412533" y="3600450"/>
            <a:ext cx="42079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23"/>
          <p:cNvSpPr/>
          <p:nvPr/>
        </p:nvSpPr>
        <p:spPr>
          <a:xfrm>
            <a:off x="571500" y="4200525"/>
            <a:ext cx="237678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23"/>
          <p:cNvSpPr/>
          <p:nvPr/>
        </p:nvSpPr>
        <p:spPr>
          <a:xfrm>
            <a:off x="2948285" y="4200525"/>
            <a:ext cx="20828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23"/>
          <p:cNvSpPr/>
          <p:nvPr/>
        </p:nvSpPr>
        <p:spPr>
          <a:xfrm>
            <a:off x="5031134" y="4200525"/>
            <a:ext cx="23813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3"/>
          <p:cNvSpPr/>
          <p:nvPr/>
        </p:nvSpPr>
        <p:spPr>
          <a:xfrm>
            <a:off x="7412533" y="4200525"/>
            <a:ext cx="42079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23"/>
          <p:cNvSpPr/>
          <p:nvPr/>
        </p:nvSpPr>
        <p:spPr>
          <a:xfrm>
            <a:off x="571500" y="4800600"/>
            <a:ext cx="237678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3"/>
          <p:cNvSpPr/>
          <p:nvPr/>
        </p:nvSpPr>
        <p:spPr>
          <a:xfrm>
            <a:off x="2948285" y="4800600"/>
            <a:ext cx="20828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23"/>
          <p:cNvSpPr/>
          <p:nvPr/>
        </p:nvSpPr>
        <p:spPr>
          <a:xfrm>
            <a:off x="5031134" y="4800600"/>
            <a:ext cx="23813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3"/>
          <p:cNvSpPr/>
          <p:nvPr/>
        </p:nvSpPr>
        <p:spPr>
          <a:xfrm>
            <a:off x="7412533" y="4800600"/>
            <a:ext cx="42079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3"/>
          <p:cNvSpPr/>
          <p:nvPr/>
        </p:nvSpPr>
        <p:spPr>
          <a:xfrm>
            <a:off x="571500" y="5400675"/>
            <a:ext cx="237678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p:nvPr/>
        </p:nvSpPr>
        <p:spPr>
          <a:xfrm>
            <a:off x="2948285" y="5400675"/>
            <a:ext cx="20828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3"/>
          <p:cNvSpPr/>
          <p:nvPr/>
        </p:nvSpPr>
        <p:spPr>
          <a:xfrm>
            <a:off x="5031134" y="5400675"/>
            <a:ext cx="23813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p:nvPr/>
        </p:nvSpPr>
        <p:spPr>
          <a:xfrm>
            <a:off x="7412533" y="5400675"/>
            <a:ext cx="42079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24"/>
          <p:cNvSpPr txBox="1"/>
          <p:nvPr/>
        </p:nvSpPr>
        <p:spPr>
          <a:xfrm>
            <a:off x="295275" y="1022425"/>
            <a:ext cx="116016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2563EB"/>
                </a:solidFill>
                <a:latin typeface="Poppins"/>
                <a:ea typeface="Poppins"/>
                <a:cs typeface="Poppins"/>
                <a:sym typeface="Poppins"/>
              </a:rPr>
              <a:t>KẾT LUẬN &amp; KIẾN NGHỊ</a:t>
            </a:r>
            <a:endParaRPr/>
          </a:p>
        </p:txBody>
      </p:sp>
      <p:sp>
        <p:nvSpPr>
          <p:cNvPr id="281" name="Google Shape;281;p24"/>
          <p:cNvSpPr txBox="1"/>
          <p:nvPr/>
        </p:nvSpPr>
        <p:spPr>
          <a:xfrm>
            <a:off x="5186771" y="4038325"/>
            <a:ext cx="18183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Lato"/>
                <a:ea typeface="Lato"/>
                <a:cs typeface="Lato"/>
                <a:sym typeface="Lato"/>
              </a:rPr>
              <a:t> Truy cập Github Bài Làm</a:t>
            </a:r>
            <a:endParaRPr/>
          </a:p>
        </p:txBody>
      </p:sp>
      <p:pic>
        <p:nvPicPr>
          <p:cNvPr descr="image.png" id="282" name="Google Shape;282;p24"/>
          <p:cNvPicPr preferRelativeResize="0"/>
          <p:nvPr/>
        </p:nvPicPr>
        <p:blipFill rotWithShape="1">
          <a:blip r:embed="rId3">
            <a:alphaModFix/>
          </a:blip>
          <a:srcRect b="0" l="0" r="0" t="0"/>
          <a:stretch/>
        </p:blipFill>
        <p:spPr>
          <a:xfrm>
            <a:off x="5186771" y="4057375"/>
            <a:ext cx="152400" cy="152400"/>
          </a:xfrm>
          <a:prstGeom prst="rect">
            <a:avLst/>
          </a:prstGeom>
          <a:noFill/>
          <a:ln>
            <a:noFill/>
          </a:ln>
        </p:spPr>
      </p:pic>
      <p:sp>
        <p:nvSpPr>
          <p:cNvPr id="283" name="Google Shape;283;p24"/>
          <p:cNvSpPr txBox="1"/>
          <p:nvPr/>
        </p:nvSpPr>
        <p:spPr>
          <a:xfrm>
            <a:off x="2143088" y="2185675"/>
            <a:ext cx="8239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Kiến trúc là quyết định:</a:t>
            </a:r>
            <a:r>
              <a:rPr b="0" i="0" lang="en-US" sz="1500" u="none" cap="none" strike="noStrike">
                <a:solidFill>
                  <a:srgbClr val="334155"/>
                </a:solidFill>
                <a:latin typeface="Lato"/>
                <a:ea typeface="Lato"/>
                <a:cs typeface="Lato"/>
                <a:sym typeface="Lato"/>
              </a:rPr>
              <a:t> Thiết kế Port/Adapter là chìa khóa để nâng cao Testability.</a:t>
            </a:r>
            <a:endParaRPr/>
          </a:p>
        </p:txBody>
      </p:sp>
      <p:sp>
        <p:nvSpPr>
          <p:cNvPr id="284" name="Google Shape;284;p24"/>
          <p:cNvSpPr txBox="1"/>
          <p:nvPr/>
        </p:nvSpPr>
        <p:spPr>
          <a:xfrm>
            <a:off x="2143088" y="2633350"/>
            <a:ext cx="8239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Tích hợp CI/CD:</a:t>
            </a:r>
            <a:r>
              <a:rPr b="0" i="0" lang="en-US" sz="1500" u="none" cap="none" strike="noStrike">
                <a:solidFill>
                  <a:srgbClr val="334155"/>
                </a:solidFill>
                <a:latin typeface="Lato"/>
                <a:ea typeface="Lato"/>
                <a:cs typeface="Lato"/>
                <a:sym typeface="Lato"/>
              </a:rPr>
              <a:t> Sử dụng measure_metrics.py làm Quality Gate tự động.</a:t>
            </a:r>
            <a:endParaRPr/>
          </a:p>
        </p:txBody>
      </p:sp>
      <p:sp>
        <p:nvSpPr>
          <p:cNvPr id="285" name="Google Shape;285;p24"/>
          <p:cNvSpPr txBox="1"/>
          <p:nvPr/>
        </p:nvSpPr>
        <p:spPr>
          <a:xfrm>
            <a:off x="2143088" y="3081025"/>
            <a:ext cx="8239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Mở rộng:</a:t>
            </a:r>
            <a:r>
              <a:rPr b="0" i="0" lang="en-US" sz="1500" u="none" cap="none" strike="noStrike">
                <a:solidFill>
                  <a:srgbClr val="334155"/>
                </a:solidFill>
                <a:latin typeface="Lato"/>
                <a:ea typeface="Lato"/>
                <a:cs typeface="Lato"/>
                <a:sym typeface="Lato"/>
              </a:rPr>
              <a:t> Nghiên cứu Mutation Testing để đo lường chất lượng kịch bản test.</a:t>
            </a:r>
            <a:endParaRPr/>
          </a:p>
        </p:txBody>
      </p:sp>
      <p:pic>
        <p:nvPicPr>
          <p:cNvPr descr="image.png" id="286" name="Google Shape;286;p24"/>
          <p:cNvPicPr preferRelativeResize="0"/>
          <p:nvPr/>
        </p:nvPicPr>
        <p:blipFill rotWithShape="1">
          <a:blip r:embed="rId4">
            <a:alphaModFix/>
          </a:blip>
          <a:srcRect b="0" l="0" r="0" t="0"/>
          <a:stretch/>
        </p:blipFill>
        <p:spPr>
          <a:xfrm>
            <a:off x="1809713" y="2185675"/>
            <a:ext cx="171450" cy="200025"/>
          </a:xfrm>
          <a:prstGeom prst="rect">
            <a:avLst/>
          </a:prstGeom>
          <a:noFill/>
          <a:ln>
            <a:noFill/>
          </a:ln>
        </p:spPr>
      </p:pic>
      <p:pic>
        <p:nvPicPr>
          <p:cNvPr descr="image.png" id="287" name="Google Shape;287;p24"/>
          <p:cNvPicPr preferRelativeResize="0"/>
          <p:nvPr/>
        </p:nvPicPr>
        <p:blipFill rotWithShape="1">
          <a:blip r:embed="rId4">
            <a:alphaModFix/>
          </a:blip>
          <a:srcRect b="0" l="0" r="0" t="0"/>
          <a:stretch/>
        </p:blipFill>
        <p:spPr>
          <a:xfrm>
            <a:off x="1809713" y="2633350"/>
            <a:ext cx="171450" cy="200025"/>
          </a:xfrm>
          <a:prstGeom prst="rect">
            <a:avLst/>
          </a:prstGeom>
          <a:noFill/>
          <a:ln>
            <a:noFill/>
          </a:ln>
        </p:spPr>
      </p:pic>
      <p:pic>
        <p:nvPicPr>
          <p:cNvPr descr="image.png" id="288" name="Google Shape;288;p24"/>
          <p:cNvPicPr preferRelativeResize="0"/>
          <p:nvPr/>
        </p:nvPicPr>
        <p:blipFill rotWithShape="1">
          <a:blip r:embed="rId4">
            <a:alphaModFix/>
          </a:blip>
          <a:srcRect b="0" l="0" r="0" t="0"/>
          <a:stretch/>
        </p:blipFill>
        <p:spPr>
          <a:xfrm>
            <a:off x="1809713" y="3081025"/>
            <a:ext cx="171450" cy="200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5"/>
          <p:cNvSpPr txBox="1"/>
          <p:nvPr/>
        </p:nvSpPr>
        <p:spPr>
          <a:xfrm>
            <a:off x="5186808" y="4352925"/>
            <a:ext cx="18183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Lato"/>
                <a:ea typeface="Lato"/>
                <a:cs typeface="Lato"/>
                <a:sym typeface="Lato"/>
              </a:rPr>
              <a:t> Truy cập Github Bài Làm</a:t>
            </a:r>
            <a:endParaRPr/>
          </a:p>
        </p:txBody>
      </p:sp>
      <p:pic>
        <p:nvPicPr>
          <p:cNvPr descr="image.png" id="294" name="Google Shape;294;p25"/>
          <p:cNvPicPr preferRelativeResize="0"/>
          <p:nvPr/>
        </p:nvPicPr>
        <p:blipFill rotWithShape="1">
          <a:blip r:embed="rId3">
            <a:alphaModFix/>
          </a:blip>
          <a:srcRect b="0" l="0" r="0" t="0"/>
          <a:stretch/>
        </p:blipFill>
        <p:spPr>
          <a:xfrm>
            <a:off x="5186808" y="4371975"/>
            <a:ext cx="152400" cy="152400"/>
          </a:xfrm>
          <a:prstGeom prst="rect">
            <a:avLst/>
          </a:prstGeom>
          <a:noFill/>
          <a:ln>
            <a:noFill/>
          </a:ln>
        </p:spPr>
      </p:pic>
      <p:sp>
        <p:nvSpPr>
          <p:cNvPr id="295" name="Google Shape;295;p25"/>
          <p:cNvSpPr txBox="1"/>
          <p:nvPr/>
        </p:nvSpPr>
        <p:spPr>
          <a:xfrm>
            <a:off x="571500" y="2320275"/>
            <a:ext cx="11049000" cy="554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3600">
                <a:solidFill>
                  <a:srgbClr val="334155"/>
                </a:solidFill>
                <a:latin typeface="Lato"/>
                <a:ea typeface="Lato"/>
                <a:cs typeface="Lato"/>
                <a:sym typeface="Lato"/>
              </a:rPr>
              <a:t>CẢM ƠN THẦY VÀ CÁC BẠN ĐÃ LẮNG NGHE!</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